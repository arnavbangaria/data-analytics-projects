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2" d="100"/>
          <a:sy n="42" d="100"/>
        </p:scale>
        <p:origin x="114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BBC93F-4FFD-4F94-912C-CB2CAB0089A8}"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IN"/>
        </a:p>
      </dgm:t>
    </dgm:pt>
    <dgm:pt modelId="{0ECCCE8B-F06A-4645-927A-90FC0B9BF3EA}">
      <dgm:prSet custT="1"/>
      <dgm:spPr/>
      <dgm:t>
        <a:bodyPr/>
        <a:lstStyle/>
        <a:p>
          <a:r>
            <a:rPr lang="en-IN" sz="1800" dirty="0">
              <a:latin typeface="Helvetica" pitchFamily="2" charset="0"/>
            </a:rPr>
            <a:t>CHURN RATE</a:t>
          </a:r>
        </a:p>
      </dgm:t>
    </dgm:pt>
    <dgm:pt modelId="{BCB1D1E3-4826-4A1B-A2DD-0DD61A84EDE0}" type="parTrans" cxnId="{08180DCC-9C87-4F91-9DD1-0AC1281587AD}">
      <dgm:prSet/>
      <dgm:spPr/>
      <dgm:t>
        <a:bodyPr/>
        <a:lstStyle/>
        <a:p>
          <a:endParaRPr lang="en-IN">
            <a:latin typeface="Helvetica" pitchFamily="2" charset="0"/>
          </a:endParaRPr>
        </a:p>
      </dgm:t>
    </dgm:pt>
    <dgm:pt modelId="{467CDD55-D462-48B9-B79E-3A8ADE996CD1}" type="sibTrans" cxnId="{08180DCC-9C87-4F91-9DD1-0AC1281587AD}">
      <dgm:prSet/>
      <dgm:spPr/>
      <dgm:t>
        <a:bodyPr/>
        <a:lstStyle/>
        <a:p>
          <a:endParaRPr lang="en-IN">
            <a:latin typeface="Helvetica" pitchFamily="2" charset="0"/>
          </a:endParaRPr>
        </a:p>
      </dgm:t>
    </dgm:pt>
    <dgm:pt modelId="{31253AAD-78C2-40E8-B443-C635ACE422BF}">
      <dgm:prSet custT="1"/>
      <dgm:spPr>
        <a:solidFill>
          <a:schemeClr val="bg2"/>
        </a:solidFill>
        <a:ln w="28575">
          <a:solidFill>
            <a:schemeClr val="accent1"/>
          </a:solidFill>
          <a:prstDash val="sysDash"/>
        </a:ln>
      </dgm:spPr>
      <dgm:t>
        <a:bodyPr/>
        <a:lstStyle/>
        <a:p>
          <a:r>
            <a:rPr lang="en-IN" sz="1200">
              <a:solidFill>
                <a:schemeClr val="accent1"/>
              </a:solidFill>
              <a:latin typeface="Helvetica" pitchFamily="2" charset="0"/>
            </a:rPr>
            <a:t>Number of Products</a:t>
          </a:r>
        </a:p>
      </dgm:t>
    </dgm:pt>
    <dgm:pt modelId="{9F6AA203-A461-4B0D-A490-D3D7E6DB7B01}" type="parTrans" cxnId="{52F3AFE9-5CA6-4DAA-B908-BC85B3C535CA}">
      <dgm:prSet/>
      <dgm:spPr/>
      <dgm:t>
        <a:bodyPr/>
        <a:lstStyle/>
        <a:p>
          <a:endParaRPr lang="en-IN">
            <a:latin typeface="Helvetica" pitchFamily="2" charset="0"/>
          </a:endParaRPr>
        </a:p>
      </dgm:t>
    </dgm:pt>
    <dgm:pt modelId="{3975AC96-19E1-448F-AE88-2B3C68320FB2}" type="sibTrans" cxnId="{52F3AFE9-5CA6-4DAA-B908-BC85B3C535CA}">
      <dgm:prSet/>
      <dgm:spPr/>
    </dgm:pt>
    <dgm:pt modelId="{83D1192B-3756-4B55-A5BF-CA00B80E9817}">
      <dgm:prSet/>
      <dgm:spPr>
        <a:solidFill>
          <a:srgbClr val="FF0000"/>
        </a:solidFill>
      </dgm:spPr>
      <dgm:t>
        <a:bodyPr/>
        <a:lstStyle/>
        <a:p>
          <a:r>
            <a:rPr lang="en-IN" b="1" dirty="0">
              <a:latin typeface="Helvetica" pitchFamily="2" charset="0"/>
            </a:rPr>
            <a:t>Risky – 4 products</a:t>
          </a:r>
        </a:p>
      </dgm:t>
    </dgm:pt>
    <dgm:pt modelId="{BC08A35A-89C7-448D-8E63-317E08CD3654}" type="parTrans" cxnId="{CE74263D-C27B-4C95-A0F6-2CF4273A3214}">
      <dgm:prSet/>
      <dgm:spPr/>
      <dgm:t>
        <a:bodyPr/>
        <a:lstStyle/>
        <a:p>
          <a:endParaRPr lang="en-IN">
            <a:latin typeface="Helvetica" pitchFamily="2" charset="0"/>
          </a:endParaRPr>
        </a:p>
      </dgm:t>
    </dgm:pt>
    <dgm:pt modelId="{D01657B4-E514-46B7-A81A-F2DA6317C2FC}" type="sibTrans" cxnId="{CE74263D-C27B-4C95-A0F6-2CF4273A3214}">
      <dgm:prSet/>
      <dgm:spPr/>
      <dgm:t>
        <a:bodyPr/>
        <a:lstStyle/>
        <a:p>
          <a:endParaRPr lang="en-IN">
            <a:latin typeface="Helvetica" pitchFamily="2" charset="0"/>
          </a:endParaRPr>
        </a:p>
      </dgm:t>
    </dgm:pt>
    <dgm:pt modelId="{9B55265A-7088-414E-A13C-6AB7CFE18D4A}">
      <dgm:prSet/>
      <dgm:spPr>
        <a:solidFill>
          <a:schemeClr val="accent5"/>
        </a:solidFill>
      </dgm:spPr>
      <dgm:t>
        <a:bodyPr/>
        <a:lstStyle/>
        <a:p>
          <a:r>
            <a:rPr lang="en-IN" b="1" dirty="0">
              <a:latin typeface="Helvetica" pitchFamily="2" charset="0"/>
            </a:rPr>
            <a:t>Safe – 2 products</a:t>
          </a:r>
        </a:p>
      </dgm:t>
    </dgm:pt>
    <dgm:pt modelId="{C7F17736-8140-4885-AAE8-3276CC53FE41}" type="parTrans" cxnId="{412BB527-4978-4E5D-991A-1F89E5E308B2}">
      <dgm:prSet/>
      <dgm:spPr/>
      <dgm:t>
        <a:bodyPr/>
        <a:lstStyle/>
        <a:p>
          <a:endParaRPr lang="en-IN">
            <a:latin typeface="Helvetica" pitchFamily="2" charset="0"/>
          </a:endParaRPr>
        </a:p>
      </dgm:t>
    </dgm:pt>
    <dgm:pt modelId="{020E6B4D-0C9F-4BF3-9494-D2F8A1A9AAE4}" type="sibTrans" cxnId="{412BB527-4978-4E5D-991A-1F89E5E308B2}">
      <dgm:prSet/>
      <dgm:spPr/>
      <dgm:t>
        <a:bodyPr/>
        <a:lstStyle/>
        <a:p>
          <a:endParaRPr lang="en-IN">
            <a:latin typeface="Helvetica" pitchFamily="2" charset="0"/>
          </a:endParaRPr>
        </a:p>
      </dgm:t>
    </dgm:pt>
    <dgm:pt modelId="{43E11716-C572-40EA-B92F-21B1247E3AA2}">
      <dgm:prSet custT="1"/>
      <dgm:spPr>
        <a:solidFill>
          <a:schemeClr val="bg2"/>
        </a:solidFill>
        <a:ln w="28575">
          <a:solidFill>
            <a:schemeClr val="accent1"/>
          </a:solidFill>
          <a:prstDash val="sysDash"/>
        </a:ln>
      </dgm:spPr>
      <dgm:t>
        <a:bodyPr/>
        <a:lstStyle/>
        <a:p>
          <a:r>
            <a:rPr lang="en-IN" sz="1200" dirty="0">
              <a:solidFill>
                <a:schemeClr val="accent1"/>
              </a:solidFill>
              <a:latin typeface="Helvetica" pitchFamily="2" charset="0"/>
            </a:rPr>
            <a:t>Age Group </a:t>
          </a:r>
        </a:p>
      </dgm:t>
    </dgm:pt>
    <dgm:pt modelId="{E659A925-7A9A-47EE-BBEF-CDC5EB6A96DD}" type="parTrans" cxnId="{804230BC-E5B2-4D63-930E-9B8C6A38B698}">
      <dgm:prSet/>
      <dgm:spPr/>
      <dgm:t>
        <a:bodyPr/>
        <a:lstStyle/>
        <a:p>
          <a:endParaRPr lang="en-IN">
            <a:latin typeface="Helvetica" pitchFamily="2" charset="0"/>
          </a:endParaRPr>
        </a:p>
      </dgm:t>
    </dgm:pt>
    <dgm:pt modelId="{C5AEDF79-CB9C-42F6-8DA3-7EC1353AFF99}" type="sibTrans" cxnId="{804230BC-E5B2-4D63-930E-9B8C6A38B698}">
      <dgm:prSet/>
      <dgm:spPr/>
      <dgm:t>
        <a:bodyPr/>
        <a:lstStyle/>
        <a:p>
          <a:endParaRPr lang="en-IN">
            <a:latin typeface="Helvetica" pitchFamily="2" charset="0"/>
          </a:endParaRPr>
        </a:p>
      </dgm:t>
    </dgm:pt>
    <dgm:pt modelId="{3D8D134A-925D-468D-8C6D-546F1D1AB211}">
      <dgm:prSet/>
      <dgm:spPr>
        <a:solidFill>
          <a:srgbClr val="FF0000"/>
        </a:solidFill>
      </dgm:spPr>
      <dgm:t>
        <a:bodyPr/>
        <a:lstStyle/>
        <a:p>
          <a:r>
            <a:rPr lang="en-IN" b="1" dirty="0">
              <a:latin typeface="Helvetica" pitchFamily="2" charset="0"/>
            </a:rPr>
            <a:t>Risky – Senior Citizens (50+)</a:t>
          </a:r>
        </a:p>
      </dgm:t>
    </dgm:pt>
    <dgm:pt modelId="{C0A1B72C-4A74-47C5-8155-683432F9A609}" type="parTrans" cxnId="{ED2CBB82-4C2D-4384-8960-C9FDA2E2A732}">
      <dgm:prSet/>
      <dgm:spPr/>
      <dgm:t>
        <a:bodyPr/>
        <a:lstStyle/>
        <a:p>
          <a:endParaRPr lang="en-IN">
            <a:latin typeface="Helvetica" pitchFamily="2" charset="0"/>
          </a:endParaRPr>
        </a:p>
      </dgm:t>
    </dgm:pt>
    <dgm:pt modelId="{8D4CA57F-3D7A-490D-ABE3-65BB1012F27E}" type="sibTrans" cxnId="{ED2CBB82-4C2D-4384-8960-C9FDA2E2A732}">
      <dgm:prSet/>
      <dgm:spPr/>
      <dgm:t>
        <a:bodyPr/>
        <a:lstStyle/>
        <a:p>
          <a:endParaRPr lang="en-IN">
            <a:latin typeface="Helvetica" pitchFamily="2" charset="0"/>
          </a:endParaRPr>
        </a:p>
      </dgm:t>
    </dgm:pt>
    <dgm:pt modelId="{AC531355-88A3-4949-97FB-01D4C3EB96B7}">
      <dgm:prSet/>
      <dgm:spPr>
        <a:solidFill>
          <a:schemeClr val="accent5"/>
        </a:solidFill>
      </dgm:spPr>
      <dgm:t>
        <a:bodyPr/>
        <a:lstStyle/>
        <a:p>
          <a:r>
            <a:rPr lang="en-IN" b="1">
              <a:latin typeface="Helvetica" pitchFamily="2" charset="0"/>
            </a:rPr>
            <a:t>Safe – Young Adults (18-30)</a:t>
          </a:r>
        </a:p>
      </dgm:t>
    </dgm:pt>
    <dgm:pt modelId="{4170AB5E-B82D-492F-8902-F7F278B13E34}" type="parTrans" cxnId="{D46E5B93-0F05-4640-A9F9-9B7BD09A836A}">
      <dgm:prSet/>
      <dgm:spPr/>
      <dgm:t>
        <a:bodyPr/>
        <a:lstStyle/>
        <a:p>
          <a:endParaRPr lang="en-IN">
            <a:latin typeface="Helvetica" pitchFamily="2" charset="0"/>
          </a:endParaRPr>
        </a:p>
      </dgm:t>
    </dgm:pt>
    <dgm:pt modelId="{C10BEF29-DB1A-44D8-8784-DA1A8CCEAD32}" type="sibTrans" cxnId="{D46E5B93-0F05-4640-A9F9-9B7BD09A836A}">
      <dgm:prSet/>
      <dgm:spPr/>
      <dgm:t>
        <a:bodyPr/>
        <a:lstStyle/>
        <a:p>
          <a:endParaRPr lang="en-IN">
            <a:latin typeface="Helvetica" pitchFamily="2" charset="0"/>
          </a:endParaRPr>
        </a:p>
      </dgm:t>
    </dgm:pt>
    <dgm:pt modelId="{B7E2F016-E063-4962-AAB2-32D7EBE406FB}">
      <dgm:prSet custT="1"/>
      <dgm:spPr>
        <a:solidFill>
          <a:schemeClr val="bg2"/>
        </a:solidFill>
        <a:ln w="28575">
          <a:solidFill>
            <a:schemeClr val="accent1"/>
          </a:solidFill>
          <a:prstDash val="sysDash"/>
        </a:ln>
      </dgm:spPr>
      <dgm:t>
        <a:bodyPr/>
        <a:lstStyle/>
        <a:p>
          <a:r>
            <a:rPr lang="en-IN" sz="1200">
              <a:solidFill>
                <a:schemeClr val="accent1"/>
              </a:solidFill>
              <a:latin typeface="Helvetica" pitchFamily="2" charset="0"/>
            </a:rPr>
            <a:t>Location </a:t>
          </a:r>
        </a:p>
      </dgm:t>
    </dgm:pt>
    <dgm:pt modelId="{7E9C48DB-2536-4808-8040-D844DBCFBADC}" type="parTrans" cxnId="{EE2BF7CA-83CE-4D27-9931-48A72D2D86EF}">
      <dgm:prSet/>
      <dgm:spPr/>
      <dgm:t>
        <a:bodyPr/>
        <a:lstStyle/>
        <a:p>
          <a:endParaRPr lang="en-IN">
            <a:latin typeface="Helvetica" pitchFamily="2" charset="0"/>
          </a:endParaRPr>
        </a:p>
      </dgm:t>
    </dgm:pt>
    <dgm:pt modelId="{37484F41-653F-43B3-BC61-1C33C01C7791}" type="sibTrans" cxnId="{EE2BF7CA-83CE-4D27-9931-48A72D2D86EF}">
      <dgm:prSet/>
      <dgm:spPr/>
    </dgm:pt>
    <dgm:pt modelId="{DC8F9498-B82A-4F52-B7E4-A3D2C738C633}">
      <dgm:prSet/>
      <dgm:spPr>
        <a:solidFill>
          <a:srgbClr val="FF0000"/>
        </a:solidFill>
      </dgm:spPr>
      <dgm:t>
        <a:bodyPr/>
        <a:lstStyle/>
        <a:p>
          <a:r>
            <a:rPr lang="en-IN" b="1">
              <a:latin typeface="Helvetica" pitchFamily="2" charset="0"/>
            </a:rPr>
            <a:t>Risky – Germany</a:t>
          </a:r>
        </a:p>
      </dgm:t>
    </dgm:pt>
    <dgm:pt modelId="{9EC0618A-A7A8-4FD7-AD62-2E9FB51A5AE5}" type="parTrans" cxnId="{F76DB553-1B2E-4038-8F25-D8EACC038109}">
      <dgm:prSet/>
      <dgm:spPr/>
      <dgm:t>
        <a:bodyPr/>
        <a:lstStyle/>
        <a:p>
          <a:endParaRPr lang="en-IN">
            <a:latin typeface="Helvetica" pitchFamily="2" charset="0"/>
          </a:endParaRPr>
        </a:p>
      </dgm:t>
    </dgm:pt>
    <dgm:pt modelId="{AD3EFB2E-C73B-4D1A-B32E-AE7F8F4ACF99}" type="sibTrans" cxnId="{F76DB553-1B2E-4038-8F25-D8EACC038109}">
      <dgm:prSet/>
      <dgm:spPr/>
      <dgm:t>
        <a:bodyPr/>
        <a:lstStyle/>
        <a:p>
          <a:endParaRPr lang="en-IN">
            <a:latin typeface="Helvetica" pitchFamily="2" charset="0"/>
          </a:endParaRPr>
        </a:p>
      </dgm:t>
    </dgm:pt>
    <dgm:pt modelId="{9CDADE19-C00D-43DE-A519-27B300D8880A}">
      <dgm:prSet/>
      <dgm:spPr>
        <a:solidFill>
          <a:schemeClr val="accent5"/>
        </a:solidFill>
      </dgm:spPr>
      <dgm:t>
        <a:bodyPr/>
        <a:lstStyle/>
        <a:p>
          <a:r>
            <a:rPr lang="en-IN" b="1">
              <a:latin typeface="Helvetica" pitchFamily="2" charset="0"/>
            </a:rPr>
            <a:t>Safe – France </a:t>
          </a:r>
        </a:p>
      </dgm:t>
    </dgm:pt>
    <dgm:pt modelId="{61001451-3990-49AE-AC33-130E501A6280}" type="parTrans" cxnId="{E940289D-8094-4283-BF35-C1A3C1D91242}">
      <dgm:prSet/>
      <dgm:spPr/>
      <dgm:t>
        <a:bodyPr/>
        <a:lstStyle/>
        <a:p>
          <a:endParaRPr lang="en-IN">
            <a:latin typeface="Helvetica" pitchFamily="2" charset="0"/>
          </a:endParaRPr>
        </a:p>
      </dgm:t>
    </dgm:pt>
    <dgm:pt modelId="{CB95BB91-5B5A-4AD8-923B-4D65F3AE6CB4}" type="sibTrans" cxnId="{E940289D-8094-4283-BF35-C1A3C1D91242}">
      <dgm:prSet/>
      <dgm:spPr/>
      <dgm:t>
        <a:bodyPr/>
        <a:lstStyle/>
        <a:p>
          <a:endParaRPr lang="en-IN">
            <a:latin typeface="Helvetica" pitchFamily="2" charset="0"/>
          </a:endParaRPr>
        </a:p>
      </dgm:t>
    </dgm:pt>
    <dgm:pt modelId="{149DDD2F-58A6-4634-A12D-B6214AB1AD17}">
      <dgm:prSet custT="1"/>
      <dgm:spPr>
        <a:solidFill>
          <a:schemeClr val="bg2"/>
        </a:solidFill>
        <a:ln w="28575">
          <a:solidFill>
            <a:schemeClr val="accent1"/>
          </a:solidFill>
          <a:prstDash val="sysDash"/>
        </a:ln>
      </dgm:spPr>
      <dgm:t>
        <a:bodyPr/>
        <a:lstStyle/>
        <a:p>
          <a:r>
            <a:rPr lang="en-IN" sz="1200">
              <a:solidFill>
                <a:schemeClr val="accent1"/>
              </a:solidFill>
              <a:latin typeface="Helvetica" pitchFamily="2" charset="0"/>
            </a:rPr>
            <a:t>User Activity</a:t>
          </a:r>
        </a:p>
      </dgm:t>
    </dgm:pt>
    <dgm:pt modelId="{09DD16C9-E38B-4CF4-8164-4E7DFCFEBE88}" type="parTrans" cxnId="{F46889FF-D9FD-4131-A1AD-673707A0E9BB}">
      <dgm:prSet/>
      <dgm:spPr/>
      <dgm:t>
        <a:bodyPr/>
        <a:lstStyle/>
        <a:p>
          <a:endParaRPr lang="en-IN">
            <a:latin typeface="Helvetica" pitchFamily="2" charset="0"/>
          </a:endParaRPr>
        </a:p>
      </dgm:t>
    </dgm:pt>
    <dgm:pt modelId="{5928903A-D5E0-4743-A695-C984D59631A6}" type="sibTrans" cxnId="{F46889FF-D9FD-4131-A1AD-673707A0E9BB}">
      <dgm:prSet/>
      <dgm:spPr/>
      <dgm:t>
        <a:bodyPr/>
        <a:lstStyle/>
        <a:p>
          <a:endParaRPr lang="en-IN">
            <a:latin typeface="Helvetica" pitchFamily="2" charset="0"/>
          </a:endParaRPr>
        </a:p>
      </dgm:t>
    </dgm:pt>
    <dgm:pt modelId="{B0D9D994-804B-4C83-9A9D-E82644A4FBD0}">
      <dgm:prSet/>
      <dgm:spPr>
        <a:solidFill>
          <a:srgbClr val="FF0000"/>
        </a:solidFill>
      </dgm:spPr>
      <dgm:t>
        <a:bodyPr/>
        <a:lstStyle/>
        <a:p>
          <a:r>
            <a:rPr lang="en-IN" b="1">
              <a:latin typeface="Helvetica" pitchFamily="2" charset="0"/>
            </a:rPr>
            <a:t>Risky – Inactive</a:t>
          </a:r>
        </a:p>
      </dgm:t>
    </dgm:pt>
    <dgm:pt modelId="{547F2E6E-3CC5-4A2A-8478-DC6FD97888F2}" type="parTrans" cxnId="{F726720D-304D-410C-A81B-CA7DEF24BE6D}">
      <dgm:prSet/>
      <dgm:spPr/>
      <dgm:t>
        <a:bodyPr/>
        <a:lstStyle/>
        <a:p>
          <a:endParaRPr lang="en-IN">
            <a:latin typeface="Helvetica" pitchFamily="2" charset="0"/>
          </a:endParaRPr>
        </a:p>
      </dgm:t>
    </dgm:pt>
    <dgm:pt modelId="{7FC0FABB-4FD4-4CA2-8FBF-7FF38C051C9F}" type="sibTrans" cxnId="{F726720D-304D-410C-A81B-CA7DEF24BE6D}">
      <dgm:prSet/>
      <dgm:spPr/>
      <dgm:t>
        <a:bodyPr/>
        <a:lstStyle/>
        <a:p>
          <a:endParaRPr lang="en-IN">
            <a:latin typeface="Helvetica" pitchFamily="2" charset="0"/>
          </a:endParaRPr>
        </a:p>
      </dgm:t>
    </dgm:pt>
    <dgm:pt modelId="{0F056C56-F07A-4AAB-B5A4-CFDAD991CB3D}">
      <dgm:prSet/>
      <dgm:spPr>
        <a:solidFill>
          <a:schemeClr val="accent5"/>
        </a:solidFill>
      </dgm:spPr>
      <dgm:t>
        <a:bodyPr/>
        <a:lstStyle/>
        <a:p>
          <a:r>
            <a:rPr lang="en-IN" b="1">
              <a:latin typeface="Helvetica" pitchFamily="2" charset="0"/>
            </a:rPr>
            <a:t>Safe – Active</a:t>
          </a:r>
        </a:p>
      </dgm:t>
    </dgm:pt>
    <dgm:pt modelId="{E42F3341-23E9-4C25-9C7B-216CCD636793}" type="parTrans" cxnId="{69381C81-E39D-4E56-B5A6-8FE8BBB71C01}">
      <dgm:prSet/>
      <dgm:spPr/>
      <dgm:t>
        <a:bodyPr/>
        <a:lstStyle/>
        <a:p>
          <a:endParaRPr lang="en-IN">
            <a:latin typeface="Helvetica" pitchFamily="2" charset="0"/>
          </a:endParaRPr>
        </a:p>
      </dgm:t>
    </dgm:pt>
    <dgm:pt modelId="{86BC347A-8F2D-403E-8705-CD84FDA6E93C}" type="sibTrans" cxnId="{69381C81-E39D-4E56-B5A6-8FE8BBB71C01}">
      <dgm:prSet/>
      <dgm:spPr/>
      <dgm:t>
        <a:bodyPr/>
        <a:lstStyle/>
        <a:p>
          <a:endParaRPr lang="en-IN">
            <a:latin typeface="Helvetica" pitchFamily="2" charset="0"/>
          </a:endParaRPr>
        </a:p>
      </dgm:t>
    </dgm:pt>
    <dgm:pt modelId="{4E976C21-2E9A-4DCF-BC95-8C5C15DC7310}">
      <dgm:prSet custT="1"/>
      <dgm:spPr>
        <a:solidFill>
          <a:schemeClr val="bg2"/>
        </a:solidFill>
        <a:ln w="28575">
          <a:solidFill>
            <a:schemeClr val="accent1"/>
          </a:solidFill>
          <a:prstDash val="sysDash"/>
        </a:ln>
      </dgm:spPr>
      <dgm:t>
        <a:bodyPr/>
        <a:lstStyle/>
        <a:p>
          <a:r>
            <a:rPr lang="en-IN" sz="1200">
              <a:solidFill>
                <a:schemeClr val="accent1"/>
              </a:solidFill>
              <a:latin typeface="Helvetica" pitchFamily="2" charset="0"/>
            </a:rPr>
            <a:t>Gender </a:t>
          </a:r>
        </a:p>
      </dgm:t>
    </dgm:pt>
    <dgm:pt modelId="{8BB85B57-82B1-4CAC-BA2A-60FB01280D1B}" type="parTrans" cxnId="{172105D8-7E49-49C7-8108-CD10BAAEE336}">
      <dgm:prSet/>
      <dgm:spPr/>
      <dgm:t>
        <a:bodyPr/>
        <a:lstStyle/>
        <a:p>
          <a:endParaRPr lang="en-IN">
            <a:latin typeface="Helvetica" pitchFamily="2" charset="0"/>
          </a:endParaRPr>
        </a:p>
      </dgm:t>
    </dgm:pt>
    <dgm:pt modelId="{0791C720-7C9D-4A88-BC36-A07EE735040C}" type="sibTrans" cxnId="{172105D8-7E49-49C7-8108-CD10BAAEE336}">
      <dgm:prSet/>
      <dgm:spPr/>
    </dgm:pt>
    <dgm:pt modelId="{2ECE0A34-57F8-48E8-BA2C-A1CBEA24B3B5}">
      <dgm:prSet/>
      <dgm:spPr>
        <a:solidFill>
          <a:srgbClr val="FF0000"/>
        </a:solidFill>
      </dgm:spPr>
      <dgm:t>
        <a:bodyPr/>
        <a:lstStyle/>
        <a:p>
          <a:r>
            <a:rPr lang="en-IN" b="1">
              <a:latin typeface="Helvetica" pitchFamily="2" charset="0"/>
            </a:rPr>
            <a:t>Risky – Female</a:t>
          </a:r>
        </a:p>
      </dgm:t>
    </dgm:pt>
    <dgm:pt modelId="{C24EDFFC-9F39-45F7-8A8E-63270DD153E2}" type="parTrans" cxnId="{9E4C354F-2569-49B9-94A1-D22F82C90EA5}">
      <dgm:prSet/>
      <dgm:spPr/>
      <dgm:t>
        <a:bodyPr/>
        <a:lstStyle/>
        <a:p>
          <a:endParaRPr lang="en-IN">
            <a:latin typeface="Helvetica" pitchFamily="2" charset="0"/>
          </a:endParaRPr>
        </a:p>
      </dgm:t>
    </dgm:pt>
    <dgm:pt modelId="{294F1E5A-7EB0-45AB-8B2C-1F68DE6D6797}" type="sibTrans" cxnId="{9E4C354F-2569-49B9-94A1-D22F82C90EA5}">
      <dgm:prSet/>
      <dgm:spPr/>
      <dgm:t>
        <a:bodyPr/>
        <a:lstStyle/>
        <a:p>
          <a:endParaRPr lang="en-IN">
            <a:latin typeface="Helvetica" pitchFamily="2" charset="0"/>
          </a:endParaRPr>
        </a:p>
      </dgm:t>
    </dgm:pt>
    <dgm:pt modelId="{185F8177-93C6-4960-B174-61FCCDB93E41}">
      <dgm:prSet/>
      <dgm:spPr>
        <a:solidFill>
          <a:schemeClr val="accent5"/>
        </a:solidFill>
      </dgm:spPr>
      <dgm:t>
        <a:bodyPr/>
        <a:lstStyle/>
        <a:p>
          <a:r>
            <a:rPr lang="en-IN" b="1">
              <a:latin typeface="Helvetica" pitchFamily="2" charset="0"/>
            </a:rPr>
            <a:t>Safe – Male</a:t>
          </a:r>
        </a:p>
      </dgm:t>
    </dgm:pt>
    <dgm:pt modelId="{DCEA3C73-A17C-4915-88A2-050A38086F2D}" type="parTrans" cxnId="{98257495-146B-421B-8564-7CCBB4C2B17D}">
      <dgm:prSet/>
      <dgm:spPr/>
      <dgm:t>
        <a:bodyPr/>
        <a:lstStyle/>
        <a:p>
          <a:endParaRPr lang="en-IN">
            <a:latin typeface="Helvetica" pitchFamily="2" charset="0"/>
          </a:endParaRPr>
        </a:p>
      </dgm:t>
    </dgm:pt>
    <dgm:pt modelId="{F0A3B7EC-980E-4B1F-9A9B-0E754AE68B79}" type="sibTrans" cxnId="{98257495-146B-421B-8564-7CCBB4C2B17D}">
      <dgm:prSet/>
      <dgm:spPr/>
      <dgm:t>
        <a:bodyPr/>
        <a:lstStyle/>
        <a:p>
          <a:endParaRPr lang="en-IN">
            <a:latin typeface="Helvetica" pitchFamily="2" charset="0"/>
          </a:endParaRPr>
        </a:p>
      </dgm:t>
    </dgm:pt>
    <dgm:pt modelId="{78DB1E59-EFEE-49B9-A075-0E3EF8D2F559}" type="pres">
      <dgm:prSet presAssocID="{89BBC93F-4FFD-4F94-912C-CB2CAB0089A8}" presName="mainComposite" presStyleCnt="0">
        <dgm:presLayoutVars>
          <dgm:chPref val="1"/>
          <dgm:dir/>
          <dgm:animOne val="branch"/>
          <dgm:animLvl val="lvl"/>
          <dgm:resizeHandles val="exact"/>
        </dgm:presLayoutVars>
      </dgm:prSet>
      <dgm:spPr/>
    </dgm:pt>
    <dgm:pt modelId="{5ADD4455-A519-4B1D-BA7A-1D5CBB1DEA62}" type="pres">
      <dgm:prSet presAssocID="{89BBC93F-4FFD-4F94-912C-CB2CAB0089A8}" presName="hierFlow" presStyleCnt="0"/>
      <dgm:spPr/>
    </dgm:pt>
    <dgm:pt modelId="{D03B7BF5-9208-4F24-A662-D4BC0E7500DB}" type="pres">
      <dgm:prSet presAssocID="{89BBC93F-4FFD-4F94-912C-CB2CAB0089A8}" presName="hierChild1" presStyleCnt="0">
        <dgm:presLayoutVars>
          <dgm:chPref val="1"/>
          <dgm:animOne val="branch"/>
          <dgm:animLvl val="lvl"/>
        </dgm:presLayoutVars>
      </dgm:prSet>
      <dgm:spPr/>
    </dgm:pt>
    <dgm:pt modelId="{AC407DA0-4513-4D29-A940-EB29BEE12D14}" type="pres">
      <dgm:prSet presAssocID="{0ECCCE8B-F06A-4645-927A-90FC0B9BF3EA}" presName="Name14" presStyleCnt="0"/>
      <dgm:spPr/>
    </dgm:pt>
    <dgm:pt modelId="{2C0E5CED-8709-48B4-B1DC-9EEE977125A7}" type="pres">
      <dgm:prSet presAssocID="{0ECCCE8B-F06A-4645-927A-90FC0B9BF3EA}" presName="level1Shape" presStyleLbl="node0" presStyleIdx="0" presStyleCnt="1" custScaleX="222820" custScaleY="193493">
        <dgm:presLayoutVars>
          <dgm:chPref val="3"/>
        </dgm:presLayoutVars>
      </dgm:prSet>
      <dgm:spPr/>
    </dgm:pt>
    <dgm:pt modelId="{CD27FCA3-86FA-4E37-9766-DD43126D80DF}" type="pres">
      <dgm:prSet presAssocID="{0ECCCE8B-F06A-4645-927A-90FC0B9BF3EA}" presName="hierChild2" presStyleCnt="0"/>
      <dgm:spPr/>
    </dgm:pt>
    <dgm:pt modelId="{6D4E9007-119F-4749-B7EE-CCE4F4D610D6}" type="pres">
      <dgm:prSet presAssocID="{9F6AA203-A461-4B0D-A490-D3D7E6DB7B01}" presName="Name19" presStyleLbl="parChTrans1D2" presStyleIdx="0" presStyleCnt="5"/>
      <dgm:spPr/>
    </dgm:pt>
    <dgm:pt modelId="{DE740CA9-06F0-4A90-A67A-60588D45CF4E}" type="pres">
      <dgm:prSet presAssocID="{31253AAD-78C2-40E8-B443-C635ACE422BF}" presName="Name21" presStyleCnt="0"/>
      <dgm:spPr/>
    </dgm:pt>
    <dgm:pt modelId="{C3DE9338-8D3E-4BC9-8643-488966EEBD1F}" type="pres">
      <dgm:prSet presAssocID="{31253AAD-78C2-40E8-B443-C635ACE422BF}" presName="level2Shape" presStyleLbl="node2" presStyleIdx="0" presStyleCnt="5"/>
      <dgm:spPr/>
    </dgm:pt>
    <dgm:pt modelId="{E7FC4C1B-C0B7-4333-894F-DC8558415834}" type="pres">
      <dgm:prSet presAssocID="{31253AAD-78C2-40E8-B443-C635ACE422BF}" presName="hierChild3" presStyleCnt="0"/>
      <dgm:spPr/>
    </dgm:pt>
    <dgm:pt modelId="{AEE9A6B6-E240-41DA-83B0-9D9296FFBBD9}" type="pres">
      <dgm:prSet presAssocID="{BC08A35A-89C7-448D-8E63-317E08CD3654}" presName="Name19" presStyleLbl="parChTrans1D3" presStyleIdx="0" presStyleCnt="10"/>
      <dgm:spPr/>
    </dgm:pt>
    <dgm:pt modelId="{B76D4C82-68DA-48C1-89D3-21606A0C9E40}" type="pres">
      <dgm:prSet presAssocID="{83D1192B-3756-4B55-A5BF-CA00B80E9817}" presName="Name21" presStyleCnt="0"/>
      <dgm:spPr/>
    </dgm:pt>
    <dgm:pt modelId="{81C361AB-4651-4CC4-9C11-6165BDABB50D}" type="pres">
      <dgm:prSet presAssocID="{83D1192B-3756-4B55-A5BF-CA00B80E9817}" presName="level2Shape" presStyleLbl="node3" presStyleIdx="0" presStyleCnt="10"/>
      <dgm:spPr/>
    </dgm:pt>
    <dgm:pt modelId="{38980564-223F-4890-9592-749329851652}" type="pres">
      <dgm:prSet presAssocID="{83D1192B-3756-4B55-A5BF-CA00B80E9817}" presName="hierChild3" presStyleCnt="0"/>
      <dgm:spPr/>
    </dgm:pt>
    <dgm:pt modelId="{611C3D41-0BB0-4A35-BCB3-D195C1FBB310}" type="pres">
      <dgm:prSet presAssocID="{C7F17736-8140-4885-AAE8-3276CC53FE41}" presName="Name19" presStyleLbl="parChTrans1D3" presStyleIdx="1" presStyleCnt="10"/>
      <dgm:spPr/>
    </dgm:pt>
    <dgm:pt modelId="{95D6BFA6-397C-4748-9062-A7D7781D8D38}" type="pres">
      <dgm:prSet presAssocID="{9B55265A-7088-414E-A13C-6AB7CFE18D4A}" presName="Name21" presStyleCnt="0"/>
      <dgm:spPr/>
    </dgm:pt>
    <dgm:pt modelId="{FCFD86BB-C52F-421D-B8CD-A14E6A1440C1}" type="pres">
      <dgm:prSet presAssocID="{9B55265A-7088-414E-A13C-6AB7CFE18D4A}" presName="level2Shape" presStyleLbl="node3" presStyleIdx="1" presStyleCnt="10"/>
      <dgm:spPr/>
    </dgm:pt>
    <dgm:pt modelId="{FF5334B0-DF63-4E8D-9E4A-EB3BF05C3B3E}" type="pres">
      <dgm:prSet presAssocID="{9B55265A-7088-414E-A13C-6AB7CFE18D4A}" presName="hierChild3" presStyleCnt="0"/>
      <dgm:spPr/>
    </dgm:pt>
    <dgm:pt modelId="{8C7AC658-D7AD-4B8E-819C-50DCE8013BF7}" type="pres">
      <dgm:prSet presAssocID="{E659A925-7A9A-47EE-BBEF-CDC5EB6A96DD}" presName="Name19" presStyleLbl="parChTrans1D2" presStyleIdx="1" presStyleCnt="5"/>
      <dgm:spPr/>
    </dgm:pt>
    <dgm:pt modelId="{61C9A4F1-1D56-43A0-B22E-88230DFDD69C}" type="pres">
      <dgm:prSet presAssocID="{43E11716-C572-40EA-B92F-21B1247E3AA2}" presName="Name21" presStyleCnt="0"/>
      <dgm:spPr/>
    </dgm:pt>
    <dgm:pt modelId="{EFAE39A6-3588-4410-A678-1B41C2102585}" type="pres">
      <dgm:prSet presAssocID="{43E11716-C572-40EA-B92F-21B1247E3AA2}" presName="level2Shape" presStyleLbl="node2" presStyleIdx="1" presStyleCnt="5"/>
      <dgm:spPr/>
    </dgm:pt>
    <dgm:pt modelId="{CFF97D7C-F5CF-4778-9663-82E2A2ADC10C}" type="pres">
      <dgm:prSet presAssocID="{43E11716-C572-40EA-B92F-21B1247E3AA2}" presName="hierChild3" presStyleCnt="0"/>
      <dgm:spPr/>
    </dgm:pt>
    <dgm:pt modelId="{F2C7E39E-1CDF-4516-A3C0-76E175F21F3C}" type="pres">
      <dgm:prSet presAssocID="{C0A1B72C-4A74-47C5-8155-683432F9A609}" presName="Name19" presStyleLbl="parChTrans1D3" presStyleIdx="2" presStyleCnt="10"/>
      <dgm:spPr/>
    </dgm:pt>
    <dgm:pt modelId="{58109948-F3B4-4A9E-94B9-FD01CC01CA58}" type="pres">
      <dgm:prSet presAssocID="{3D8D134A-925D-468D-8C6D-546F1D1AB211}" presName="Name21" presStyleCnt="0"/>
      <dgm:spPr/>
    </dgm:pt>
    <dgm:pt modelId="{1D403B9C-BFF1-40B4-8437-0641824C3D81}" type="pres">
      <dgm:prSet presAssocID="{3D8D134A-925D-468D-8C6D-546F1D1AB211}" presName="level2Shape" presStyleLbl="node3" presStyleIdx="2" presStyleCnt="10"/>
      <dgm:spPr/>
    </dgm:pt>
    <dgm:pt modelId="{CDD4271F-1B3B-465D-AF70-C97FF60B3E12}" type="pres">
      <dgm:prSet presAssocID="{3D8D134A-925D-468D-8C6D-546F1D1AB211}" presName="hierChild3" presStyleCnt="0"/>
      <dgm:spPr/>
    </dgm:pt>
    <dgm:pt modelId="{B082A2F4-D458-4703-B092-C4978A5EF073}" type="pres">
      <dgm:prSet presAssocID="{4170AB5E-B82D-492F-8902-F7F278B13E34}" presName="Name19" presStyleLbl="parChTrans1D3" presStyleIdx="3" presStyleCnt="10"/>
      <dgm:spPr/>
    </dgm:pt>
    <dgm:pt modelId="{FA26E423-917E-4CCA-909A-A25BA09F26DB}" type="pres">
      <dgm:prSet presAssocID="{AC531355-88A3-4949-97FB-01D4C3EB96B7}" presName="Name21" presStyleCnt="0"/>
      <dgm:spPr/>
    </dgm:pt>
    <dgm:pt modelId="{726F3CEE-B450-4FD6-A327-89B096C4E23C}" type="pres">
      <dgm:prSet presAssocID="{AC531355-88A3-4949-97FB-01D4C3EB96B7}" presName="level2Shape" presStyleLbl="node3" presStyleIdx="3" presStyleCnt="10"/>
      <dgm:spPr/>
    </dgm:pt>
    <dgm:pt modelId="{AFD63753-3CA8-4047-84E4-E626BA85A72B}" type="pres">
      <dgm:prSet presAssocID="{AC531355-88A3-4949-97FB-01D4C3EB96B7}" presName="hierChild3" presStyleCnt="0"/>
      <dgm:spPr/>
    </dgm:pt>
    <dgm:pt modelId="{23531883-7BB1-4AF4-AAEF-56069EA40AAA}" type="pres">
      <dgm:prSet presAssocID="{7E9C48DB-2536-4808-8040-D844DBCFBADC}" presName="Name19" presStyleLbl="parChTrans1D2" presStyleIdx="2" presStyleCnt="5"/>
      <dgm:spPr/>
    </dgm:pt>
    <dgm:pt modelId="{8256981F-C0A6-446C-AD0B-DD6A8F7AFF41}" type="pres">
      <dgm:prSet presAssocID="{B7E2F016-E063-4962-AAB2-32D7EBE406FB}" presName="Name21" presStyleCnt="0"/>
      <dgm:spPr/>
    </dgm:pt>
    <dgm:pt modelId="{9C4E23E1-97E5-482A-8677-E55003B68DEC}" type="pres">
      <dgm:prSet presAssocID="{B7E2F016-E063-4962-AAB2-32D7EBE406FB}" presName="level2Shape" presStyleLbl="node2" presStyleIdx="2" presStyleCnt="5"/>
      <dgm:spPr/>
    </dgm:pt>
    <dgm:pt modelId="{DA274475-1CFF-47C2-8C38-A46222881471}" type="pres">
      <dgm:prSet presAssocID="{B7E2F016-E063-4962-AAB2-32D7EBE406FB}" presName="hierChild3" presStyleCnt="0"/>
      <dgm:spPr/>
    </dgm:pt>
    <dgm:pt modelId="{21E5417B-9294-4E6B-8F6E-29429E46B3DD}" type="pres">
      <dgm:prSet presAssocID="{9EC0618A-A7A8-4FD7-AD62-2E9FB51A5AE5}" presName="Name19" presStyleLbl="parChTrans1D3" presStyleIdx="4" presStyleCnt="10"/>
      <dgm:spPr/>
    </dgm:pt>
    <dgm:pt modelId="{A98EBD40-016E-44E0-AD1F-365508C82C7C}" type="pres">
      <dgm:prSet presAssocID="{DC8F9498-B82A-4F52-B7E4-A3D2C738C633}" presName="Name21" presStyleCnt="0"/>
      <dgm:spPr/>
    </dgm:pt>
    <dgm:pt modelId="{94696092-7BFB-4C6E-8B8D-CFF005611B89}" type="pres">
      <dgm:prSet presAssocID="{DC8F9498-B82A-4F52-B7E4-A3D2C738C633}" presName="level2Shape" presStyleLbl="node3" presStyleIdx="4" presStyleCnt="10"/>
      <dgm:spPr/>
    </dgm:pt>
    <dgm:pt modelId="{AFE20BE5-8EDA-45AB-8C82-44BD62A49CC2}" type="pres">
      <dgm:prSet presAssocID="{DC8F9498-B82A-4F52-B7E4-A3D2C738C633}" presName="hierChild3" presStyleCnt="0"/>
      <dgm:spPr/>
    </dgm:pt>
    <dgm:pt modelId="{4751586E-60B8-4D8C-80C7-9734B1A2E8D3}" type="pres">
      <dgm:prSet presAssocID="{61001451-3990-49AE-AC33-130E501A6280}" presName="Name19" presStyleLbl="parChTrans1D3" presStyleIdx="5" presStyleCnt="10"/>
      <dgm:spPr/>
    </dgm:pt>
    <dgm:pt modelId="{08F6A425-C430-4E48-9D93-E433B0233391}" type="pres">
      <dgm:prSet presAssocID="{9CDADE19-C00D-43DE-A519-27B300D8880A}" presName="Name21" presStyleCnt="0"/>
      <dgm:spPr/>
    </dgm:pt>
    <dgm:pt modelId="{D4ED9D10-C58B-4221-B595-AF39BA6FE905}" type="pres">
      <dgm:prSet presAssocID="{9CDADE19-C00D-43DE-A519-27B300D8880A}" presName="level2Shape" presStyleLbl="node3" presStyleIdx="5" presStyleCnt="10"/>
      <dgm:spPr/>
    </dgm:pt>
    <dgm:pt modelId="{B4623A55-5C48-4333-A0AB-E90C54128CA6}" type="pres">
      <dgm:prSet presAssocID="{9CDADE19-C00D-43DE-A519-27B300D8880A}" presName="hierChild3" presStyleCnt="0"/>
      <dgm:spPr/>
    </dgm:pt>
    <dgm:pt modelId="{07E4BE0B-B3C5-4847-9376-2DFA6A2DB9DB}" type="pres">
      <dgm:prSet presAssocID="{09DD16C9-E38B-4CF4-8164-4E7DFCFEBE88}" presName="Name19" presStyleLbl="parChTrans1D2" presStyleIdx="3" presStyleCnt="5"/>
      <dgm:spPr/>
    </dgm:pt>
    <dgm:pt modelId="{56E3CDB5-C223-40A3-A596-8D5E1D542949}" type="pres">
      <dgm:prSet presAssocID="{149DDD2F-58A6-4634-A12D-B6214AB1AD17}" presName="Name21" presStyleCnt="0"/>
      <dgm:spPr/>
    </dgm:pt>
    <dgm:pt modelId="{83F3F478-DCD2-4933-8DE9-FCB3C5A26C35}" type="pres">
      <dgm:prSet presAssocID="{149DDD2F-58A6-4634-A12D-B6214AB1AD17}" presName="level2Shape" presStyleLbl="node2" presStyleIdx="3" presStyleCnt="5"/>
      <dgm:spPr/>
    </dgm:pt>
    <dgm:pt modelId="{C0E816CD-2232-43AB-BD8E-D731E641512A}" type="pres">
      <dgm:prSet presAssocID="{149DDD2F-58A6-4634-A12D-B6214AB1AD17}" presName="hierChild3" presStyleCnt="0"/>
      <dgm:spPr/>
    </dgm:pt>
    <dgm:pt modelId="{83EEEEF0-5480-409A-B84F-53606C1B7DFF}" type="pres">
      <dgm:prSet presAssocID="{547F2E6E-3CC5-4A2A-8478-DC6FD97888F2}" presName="Name19" presStyleLbl="parChTrans1D3" presStyleIdx="6" presStyleCnt="10"/>
      <dgm:spPr/>
    </dgm:pt>
    <dgm:pt modelId="{27645EEF-284A-42EC-A3F8-C97EC6F105B6}" type="pres">
      <dgm:prSet presAssocID="{B0D9D994-804B-4C83-9A9D-E82644A4FBD0}" presName="Name21" presStyleCnt="0"/>
      <dgm:spPr/>
    </dgm:pt>
    <dgm:pt modelId="{0A3E7366-3FF9-452D-8DB3-B8A0223A2C7B}" type="pres">
      <dgm:prSet presAssocID="{B0D9D994-804B-4C83-9A9D-E82644A4FBD0}" presName="level2Shape" presStyleLbl="node3" presStyleIdx="6" presStyleCnt="10"/>
      <dgm:spPr/>
    </dgm:pt>
    <dgm:pt modelId="{02EC0CE7-EEF3-4BE8-8FC2-4E6F5ED2C975}" type="pres">
      <dgm:prSet presAssocID="{B0D9D994-804B-4C83-9A9D-E82644A4FBD0}" presName="hierChild3" presStyleCnt="0"/>
      <dgm:spPr/>
    </dgm:pt>
    <dgm:pt modelId="{16F97F5A-E14E-44F6-B0A3-0EA1E048B4BC}" type="pres">
      <dgm:prSet presAssocID="{E42F3341-23E9-4C25-9C7B-216CCD636793}" presName="Name19" presStyleLbl="parChTrans1D3" presStyleIdx="7" presStyleCnt="10"/>
      <dgm:spPr/>
    </dgm:pt>
    <dgm:pt modelId="{24BAE7BB-F083-4161-8F1D-9E250867CF89}" type="pres">
      <dgm:prSet presAssocID="{0F056C56-F07A-4AAB-B5A4-CFDAD991CB3D}" presName="Name21" presStyleCnt="0"/>
      <dgm:spPr/>
    </dgm:pt>
    <dgm:pt modelId="{6BD25873-9DD9-4085-A001-EF79FA3AC609}" type="pres">
      <dgm:prSet presAssocID="{0F056C56-F07A-4AAB-B5A4-CFDAD991CB3D}" presName="level2Shape" presStyleLbl="node3" presStyleIdx="7" presStyleCnt="10"/>
      <dgm:spPr/>
    </dgm:pt>
    <dgm:pt modelId="{26B5C7BF-EB9D-4F36-81CE-CDC4D0071D1C}" type="pres">
      <dgm:prSet presAssocID="{0F056C56-F07A-4AAB-B5A4-CFDAD991CB3D}" presName="hierChild3" presStyleCnt="0"/>
      <dgm:spPr/>
    </dgm:pt>
    <dgm:pt modelId="{C31AECA8-BE80-4614-8874-E9C998F574A0}" type="pres">
      <dgm:prSet presAssocID="{8BB85B57-82B1-4CAC-BA2A-60FB01280D1B}" presName="Name19" presStyleLbl="parChTrans1D2" presStyleIdx="4" presStyleCnt="5"/>
      <dgm:spPr/>
    </dgm:pt>
    <dgm:pt modelId="{C5343985-83E8-4D7C-B8EC-352F0A831080}" type="pres">
      <dgm:prSet presAssocID="{4E976C21-2E9A-4DCF-BC95-8C5C15DC7310}" presName="Name21" presStyleCnt="0"/>
      <dgm:spPr/>
    </dgm:pt>
    <dgm:pt modelId="{519505CC-CF99-459B-A098-5A9CEB31097B}" type="pres">
      <dgm:prSet presAssocID="{4E976C21-2E9A-4DCF-BC95-8C5C15DC7310}" presName="level2Shape" presStyleLbl="node2" presStyleIdx="4" presStyleCnt="5"/>
      <dgm:spPr/>
    </dgm:pt>
    <dgm:pt modelId="{AC7AA3DE-1D73-4838-9305-8A15B7ACDCD6}" type="pres">
      <dgm:prSet presAssocID="{4E976C21-2E9A-4DCF-BC95-8C5C15DC7310}" presName="hierChild3" presStyleCnt="0"/>
      <dgm:spPr/>
    </dgm:pt>
    <dgm:pt modelId="{858F2FD3-058B-4CE4-8B97-7CEC6EB32A1A}" type="pres">
      <dgm:prSet presAssocID="{C24EDFFC-9F39-45F7-8A8E-63270DD153E2}" presName="Name19" presStyleLbl="parChTrans1D3" presStyleIdx="8" presStyleCnt="10"/>
      <dgm:spPr/>
    </dgm:pt>
    <dgm:pt modelId="{DE502A86-29F2-4EA8-B0C3-45274E0B84B4}" type="pres">
      <dgm:prSet presAssocID="{2ECE0A34-57F8-48E8-BA2C-A1CBEA24B3B5}" presName="Name21" presStyleCnt="0"/>
      <dgm:spPr/>
    </dgm:pt>
    <dgm:pt modelId="{6FF11EE2-C613-4891-8160-E9DB5BC0C1F6}" type="pres">
      <dgm:prSet presAssocID="{2ECE0A34-57F8-48E8-BA2C-A1CBEA24B3B5}" presName="level2Shape" presStyleLbl="node3" presStyleIdx="8" presStyleCnt="10"/>
      <dgm:spPr/>
    </dgm:pt>
    <dgm:pt modelId="{7A6ED237-DDCA-4490-B6D1-DD041F84E7FE}" type="pres">
      <dgm:prSet presAssocID="{2ECE0A34-57F8-48E8-BA2C-A1CBEA24B3B5}" presName="hierChild3" presStyleCnt="0"/>
      <dgm:spPr/>
    </dgm:pt>
    <dgm:pt modelId="{98D65F77-35EE-433A-B208-EB8268E0BD49}" type="pres">
      <dgm:prSet presAssocID="{DCEA3C73-A17C-4915-88A2-050A38086F2D}" presName="Name19" presStyleLbl="parChTrans1D3" presStyleIdx="9" presStyleCnt="10"/>
      <dgm:spPr/>
    </dgm:pt>
    <dgm:pt modelId="{C372B8F5-5BFB-40E3-B728-ECF447C848EF}" type="pres">
      <dgm:prSet presAssocID="{185F8177-93C6-4960-B174-61FCCDB93E41}" presName="Name21" presStyleCnt="0"/>
      <dgm:spPr/>
    </dgm:pt>
    <dgm:pt modelId="{5BB58415-C550-47E3-99E1-5EDC111F3245}" type="pres">
      <dgm:prSet presAssocID="{185F8177-93C6-4960-B174-61FCCDB93E41}" presName="level2Shape" presStyleLbl="node3" presStyleIdx="9" presStyleCnt="10"/>
      <dgm:spPr/>
    </dgm:pt>
    <dgm:pt modelId="{AEC14A0E-0EAC-4E0E-86CE-62380CDD578C}" type="pres">
      <dgm:prSet presAssocID="{185F8177-93C6-4960-B174-61FCCDB93E41}" presName="hierChild3" presStyleCnt="0"/>
      <dgm:spPr/>
    </dgm:pt>
    <dgm:pt modelId="{4891FE16-5619-475D-9627-DA0EF465E78F}" type="pres">
      <dgm:prSet presAssocID="{89BBC93F-4FFD-4F94-912C-CB2CAB0089A8}" presName="bgShapesFlow" presStyleCnt="0"/>
      <dgm:spPr/>
    </dgm:pt>
  </dgm:ptLst>
  <dgm:cxnLst>
    <dgm:cxn modelId="{F726720D-304D-410C-A81B-CA7DEF24BE6D}" srcId="{149DDD2F-58A6-4634-A12D-B6214AB1AD17}" destId="{B0D9D994-804B-4C83-9A9D-E82644A4FBD0}" srcOrd="0" destOrd="0" parTransId="{547F2E6E-3CC5-4A2A-8478-DC6FD97888F2}" sibTransId="{7FC0FABB-4FD4-4CA2-8FBF-7FF38C051C9F}"/>
    <dgm:cxn modelId="{F1321F17-6D08-4A5B-A8CB-5953CCD49BA4}" type="presOf" srcId="{0ECCCE8B-F06A-4645-927A-90FC0B9BF3EA}" destId="{2C0E5CED-8709-48B4-B1DC-9EEE977125A7}" srcOrd="0" destOrd="0" presId="urn:microsoft.com/office/officeart/2005/8/layout/hierarchy6"/>
    <dgm:cxn modelId="{C27DCB19-7AF4-4625-9E51-045994C51728}" type="presOf" srcId="{B0D9D994-804B-4C83-9A9D-E82644A4FBD0}" destId="{0A3E7366-3FF9-452D-8DB3-B8A0223A2C7B}" srcOrd="0" destOrd="0" presId="urn:microsoft.com/office/officeart/2005/8/layout/hierarchy6"/>
    <dgm:cxn modelId="{B3E1D119-59C4-4CA6-B0E2-28D323AE087B}" type="presOf" srcId="{AC531355-88A3-4949-97FB-01D4C3EB96B7}" destId="{726F3CEE-B450-4FD6-A327-89B096C4E23C}" srcOrd="0" destOrd="0" presId="urn:microsoft.com/office/officeart/2005/8/layout/hierarchy6"/>
    <dgm:cxn modelId="{699D5C1E-2579-4635-875B-0F88E9B65A03}" type="presOf" srcId="{3D8D134A-925D-468D-8C6D-546F1D1AB211}" destId="{1D403B9C-BFF1-40B4-8437-0641824C3D81}" srcOrd="0" destOrd="0" presId="urn:microsoft.com/office/officeart/2005/8/layout/hierarchy6"/>
    <dgm:cxn modelId="{412BB527-4978-4E5D-991A-1F89E5E308B2}" srcId="{31253AAD-78C2-40E8-B443-C635ACE422BF}" destId="{9B55265A-7088-414E-A13C-6AB7CFE18D4A}" srcOrd="1" destOrd="0" parTransId="{C7F17736-8140-4885-AAE8-3276CC53FE41}" sibTransId="{020E6B4D-0C9F-4BF3-9494-D2F8A1A9AAE4}"/>
    <dgm:cxn modelId="{42FD1634-F7BC-4FA6-95BA-FFFFAE97FD3A}" type="presOf" srcId="{8BB85B57-82B1-4CAC-BA2A-60FB01280D1B}" destId="{C31AECA8-BE80-4614-8874-E9C998F574A0}" srcOrd="0" destOrd="0" presId="urn:microsoft.com/office/officeart/2005/8/layout/hierarchy6"/>
    <dgm:cxn modelId="{41A4BD38-6EAA-4C8E-AF17-4962A09F5937}" type="presOf" srcId="{4170AB5E-B82D-492F-8902-F7F278B13E34}" destId="{B082A2F4-D458-4703-B092-C4978A5EF073}" srcOrd="0" destOrd="0" presId="urn:microsoft.com/office/officeart/2005/8/layout/hierarchy6"/>
    <dgm:cxn modelId="{BD3C193D-1255-4CE4-9028-435A815DE208}" type="presOf" srcId="{61001451-3990-49AE-AC33-130E501A6280}" destId="{4751586E-60B8-4D8C-80C7-9734B1A2E8D3}" srcOrd="0" destOrd="0" presId="urn:microsoft.com/office/officeart/2005/8/layout/hierarchy6"/>
    <dgm:cxn modelId="{CE74263D-C27B-4C95-A0F6-2CF4273A3214}" srcId="{31253AAD-78C2-40E8-B443-C635ACE422BF}" destId="{83D1192B-3756-4B55-A5BF-CA00B80E9817}" srcOrd="0" destOrd="0" parTransId="{BC08A35A-89C7-448D-8E63-317E08CD3654}" sibTransId="{D01657B4-E514-46B7-A81A-F2DA6317C2FC}"/>
    <dgm:cxn modelId="{44A53661-CC82-43B0-B41C-CDB80E7CF6E8}" type="presOf" srcId="{9CDADE19-C00D-43DE-A519-27B300D8880A}" destId="{D4ED9D10-C58B-4221-B595-AF39BA6FE905}" srcOrd="0" destOrd="0" presId="urn:microsoft.com/office/officeart/2005/8/layout/hierarchy6"/>
    <dgm:cxn modelId="{92F35261-40C6-4AA4-9A85-0AE5259FD9FC}" type="presOf" srcId="{7E9C48DB-2536-4808-8040-D844DBCFBADC}" destId="{23531883-7BB1-4AF4-AAEF-56069EA40AAA}" srcOrd="0" destOrd="0" presId="urn:microsoft.com/office/officeart/2005/8/layout/hierarchy6"/>
    <dgm:cxn modelId="{661D3043-F52F-438F-94F5-A321D131C8E2}" type="presOf" srcId="{9F6AA203-A461-4B0D-A490-D3D7E6DB7B01}" destId="{6D4E9007-119F-4749-B7EE-CCE4F4D610D6}" srcOrd="0" destOrd="0" presId="urn:microsoft.com/office/officeart/2005/8/layout/hierarchy6"/>
    <dgm:cxn modelId="{BC00D445-262F-415D-BD92-CC2D7FEEB7EF}" type="presOf" srcId="{2ECE0A34-57F8-48E8-BA2C-A1CBEA24B3B5}" destId="{6FF11EE2-C613-4891-8160-E9DB5BC0C1F6}" srcOrd="0" destOrd="0" presId="urn:microsoft.com/office/officeart/2005/8/layout/hierarchy6"/>
    <dgm:cxn modelId="{2CF4266A-51D9-4986-9420-F47FA319F35C}" type="presOf" srcId="{B7E2F016-E063-4962-AAB2-32D7EBE406FB}" destId="{9C4E23E1-97E5-482A-8677-E55003B68DEC}" srcOrd="0" destOrd="0" presId="urn:microsoft.com/office/officeart/2005/8/layout/hierarchy6"/>
    <dgm:cxn modelId="{9E4C354F-2569-49B9-94A1-D22F82C90EA5}" srcId="{4E976C21-2E9A-4DCF-BC95-8C5C15DC7310}" destId="{2ECE0A34-57F8-48E8-BA2C-A1CBEA24B3B5}" srcOrd="0" destOrd="0" parTransId="{C24EDFFC-9F39-45F7-8A8E-63270DD153E2}" sibTransId="{294F1E5A-7EB0-45AB-8B2C-1F68DE6D6797}"/>
    <dgm:cxn modelId="{756EA250-6F9B-4B1F-85E5-4D919A5F7D7B}" type="presOf" srcId="{89BBC93F-4FFD-4F94-912C-CB2CAB0089A8}" destId="{78DB1E59-EFEE-49B9-A075-0E3EF8D2F559}" srcOrd="0" destOrd="0" presId="urn:microsoft.com/office/officeart/2005/8/layout/hierarchy6"/>
    <dgm:cxn modelId="{F76DB553-1B2E-4038-8F25-D8EACC038109}" srcId="{B7E2F016-E063-4962-AAB2-32D7EBE406FB}" destId="{DC8F9498-B82A-4F52-B7E4-A3D2C738C633}" srcOrd="0" destOrd="0" parTransId="{9EC0618A-A7A8-4FD7-AD62-2E9FB51A5AE5}" sibTransId="{AD3EFB2E-C73B-4D1A-B32E-AE7F8F4ACF99}"/>
    <dgm:cxn modelId="{20FE197F-393A-4461-9E7A-4A919CBDFCB9}" type="presOf" srcId="{C24EDFFC-9F39-45F7-8A8E-63270DD153E2}" destId="{858F2FD3-058B-4CE4-8B97-7CEC6EB32A1A}" srcOrd="0" destOrd="0" presId="urn:microsoft.com/office/officeart/2005/8/layout/hierarchy6"/>
    <dgm:cxn modelId="{69381C81-E39D-4E56-B5A6-8FE8BBB71C01}" srcId="{149DDD2F-58A6-4634-A12D-B6214AB1AD17}" destId="{0F056C56-F07A-4AAB-B5A4-CFDAD991CB3D}" srcOrd="1" destOrd="0" parTransId="{E42F3341-23E9-4C25-9C7B-216CCD636793}" sibTransId="{86BC347A-8F2D-403E-8705-CD84FDA6E93C}"/>
    <dgm:cxn modelId="{ED2CBB82-4C2D-4384-8960-C9FDA2E2A732}" srcId="{43E11716-C572-40EA-B92F-21B1247E3AA2}" destId="{3D8D134A-925D-468D-8C6D-546F1D1AB211}" srcOrd="0" destOrd="0" parTransId="{C0A1B72C-4A74-47C5-8155-683432F9A609}" sibTransId="{8D4CA57F-3D7A-490D-ABE3-65BB1012F27E}"/>
    <dgm:cxn modelId="{C9827786-53F4-439D-84D1-82D97734724F}" type="presOf" srcId="{83D1192B-3756-4B55-A5BF-CA00B80E9817}" destId="{81C361AB-4651-4CC4-9C11-6165BDABB50D}" srcOrd="0" destOrd="0" presId="urn:microsoft.com/office/officeart/2005/8/layout/hierarchy6"/>
    <dgm:cxn modelId="{DC1EF486-683B-4341-BEB7-46121AAFFC56}" type="presOf" srcId="{C0A1B72C-4A74-47C5-8155-683432F9A609}" destId="{F2C7E39E-1CDF-4516-A3C0-76E175F21F3C}" srcOrd="0" destOrd="0" presId="urn:microsoft.com/office/officeart/2005/8/layout/hierarchy6"/>
    <dgm:cxn modelId="{DC26B58B-B84A-474C-A6AD-B104A0D63E03}" type="presOf" srcId="{9B55265A-7088-414E-A13C-6AB7CFE18D4A}" destId="{FCFD86BB-C52F-421D-B8CD-A14E6A1440C1}" srcOrd="0" destOrd="0" presId="urn:microsoft.com/office/officeart/2005/8/layout/hierarchy6"/>
    <dgm:cxn modelId="{D46E5B93-0F05-4640-A9F9-9B7BD09A836A}" srcId="{43E11716-C572-40EA-B92F-21B1247E3AA2}" destId="{AC531355-88A3-4949-97FB-01D4C3EB96B7}" srcOrd="1" destOrd="0" parTransId="{4170AB5E-B82D-492F-8902-F7F278B13E34}" sibTransId="{C10BEF29-DB1A-44D8-8784-DA1A8CCEAD32}"/>
    <dgm:cxn modelId="{98257495-146B-421B-8564-7CCBB4C2B17D}" srcId="{4E976C21-2E9A-4DCF-BC95-8C5C15DC7310}" destId="{185F8177-93C6-4960-B174-61FCCDB93E41}" srcOrd="1" destOrd="0" parTransId="{DCEA3C73-A17C-4915-88A2-050A38086F2D}" sibTransId="{F0A3B7EC-980E-4B1F-9A9B-0E754AE68B79}"/>
    <dgm:cxn modelId="{83563196-31E6-45FE-A895-8E3F0ABBBD89}" type="presOf" srcId="{43E11716-C572-40EA-B92F-21B1247E3AA2}" destId="{EFAE39A6-3588-4410-A678-1B41C2102585}" srcOrd="0" destOrd="0" presId="urn:microsoft.com/office/officeart/2005/8/layout/hierarchy6"/>
    <dgm:cxn modelId="{E940289D-8094-4283-BF35-C1A3C1D91242}" srcId="{B7E2F016-E063-4962-AAB2-32D7EBE406FB}" destId="{9CDADE19-C00D-43DE-A519-27B300D8880A}" srcOrd="1" destOrd="0" parTransId="{61001451-3990-49AE-AC33-130E501A6280}" sibTransId="{CB95BB91-5B5A-4AD8-923B-4D65F3AE6CB4}"/>
    <dgm:cxn modelId="{483DEE9D-8D3A-4AC1-B4D4-8DA4E91C60FF}" type="presOf" srcId="{4E976C21-2E9A-4DCF-BC95-8C5C15DC7310}" destId="{519505CC-CF99-459B-A098-5A9CEB31097B}" srcOrd="0" destOrd="0" presId="urn:microsoft.com/office/officeart/2005/8/layout/hierarchy6"/>
    <dgm:cxn modelId="{A68A3FA1-DE16-4C06-A6A3-F382F98F09D5}" type="presOf" srcId="{9EC0618A-A7A8-4FD7-AD62-2E9FB51A5AE5}" destId="{21E5417B-9294-4E6B-8F6E-29429E46B3DD}" srcOrd="0" destOrd="0" presId="urn:microsoft.com/office/officeart/2005/8/layout/hierarchy6"/>
    <dgm:cxn modelId="{AA5C88A9-3224-4F70-9D36-617BAD847D48}" type="presOf" srcId="{547F2E6E-3CC5-4A2A-8478-DC6FD97888F2}" destId="{83EEEEF0-5480-409A-B84F-53606C1B7DFF}" srcOrd="0" destOrd="0" presId="urn:microsoft.com/office/officeart/2005/8/layout/hierarchy6"/>
    <dgm:cxn modelId="{49164BAC-E46A-476C-BE5F-34F2108FE252}" type="presOf" srcId="{BC08A35A-89C7-448D-8E63-317E08CD3654}" destId="{AEE9A6B6-E240-41DA-83B0-9D9296FFBBD9}" srcOrd="0" destOrd="0" presId="urn:microsoft.com/office/officeart/2005/8/layout/hierarchy6"/>
    <dgm:cxn modelId="{C0A72AB5-D20D-4871-BC82-ED5B76D9A5D9}" type="presOf" srcId="{DC8F9498-B82A-4F52-B7E4-A3D2C738C633}" destId="{94696092-7BFB-4C6E-8B8D-CFF005611B89}" srcOrd="0" destOrd="0" presId="urn:microsoft.com/office/officeart/2005/8/layout/hierarchy6"/>
    <dgm:cxn modelId="{804230BC-E5B2-4D63-930E-9B8C6A38B698}" srcId="{0ECCCE8B-F06A-4645-927A-90FC0B9BF3EA}" destId="{43E11716-C572-40EA-B92F-21B1247E3AA2}" srcOrd="1" destOrd="0" parTransId="{E659A925-7A9A-47EE-BBEF-CDC5EB6A96DD}" sibTransId="{C5AEDF79-CB9C-42F6-8DA3-7EC1353AFF99}"/>
    <dgm:cxn modelId="{B94AE8C2-7E8D-4728-89AC-FA7CF4367EFC}" type="presOf" srcId="{149DDD2F-58A6-4634-A12D-B6214AB1AD17}" destId="{83F3F478-DCD2-4933-8DE9-FCB3C5A26C35}" srcOrd="0" destOrd="0" presId="urn:microsoft.com/office/officeart/2005/8/layout/hierarchy6"/>
    <dgm:cxn modelId="{EE2BF7CA-83CE-4D27-9931-48A72D2D86EF}" srcId="{0ECCCE8B-F06A-4645-927A-90FC0B9BF3EA}" destId="{B7E2F016-E063-4962-AAB2-32D7EBE406FB}" srcOrd="2" destOrd="0" parTransId="{7E9C48DB-2536-4808-8040-D844DBCFBADC}" sibTransId="{37484F41-653F-43B3-BC61-1C33C01C7791}"/>
    <dgm:cxn modelId="{08180DCC-9C87-4F91-9DD1-0AC1281587AD}" srcId="{89BBC93F-4FFD-4F94-912C-CB2CAB0089A8}" destId="{0ECCCE8B-F06A-4645-927A-90FC0B9BF3EA}" srcOrd="0" destOrd="0" parTransId="{BCB1D1E3-4826-4A1B-A2DD-0DD61A84EDE0}" sibTransId="{467CDD55-D462-48B9-B79E-3A8ADE996CD1}"/>
    <dgm:cxn modelId="{98EA1ECC-BEF7-435A-B5CB-0623066EA008}" type="presOf" srcId="{0F056C56-F07A-4AAB-B5A4-CFDAD991CB3D}" destId="{6BD25873-9DD9-4085-A001-EF79FA3AC609}" srcOrd="0" destOrd="0" presId="urn:microsoft.com/office/officeart/2005/8/layout/hierarchy6"/>
    <dgm:cxn modelId="{33E068D0-DBE8-46EE-AD8B-AC6DFC9082F4}" type="presOf" srcId="{09DD16C9-E38B-4CF4-8164-4E7DFCFEBE88}" destId="{07E4BE0B-B3C5-4847-9376-2DFA6A2DB9DB}" srcOrd="0" destOrd="0" presId="urn:microsoft.com/office/officeart/2005/8/layout/hierarchy6"/>
    <dgm:cxn modelId="{791F74D1-1A8C-40F8-91B5-5B3651A66DAA}" type="presOf" srcId="{E659A925-7A9A-47EE-BBEF-CDC5EB6A96DD}" destId="{8C7AC658-D7AD-4B8E-819C-50DCE8013BF7}" srcOrd="0" destOrd="0" presId="urn:microsoft.com/office/officeart/2005/8/layout/hierarchy6"/>
    <dgm:cxn modelId="{172105D8-7E49-49C7-8108-CD10BAAEE336}" srcId="{0ECCCE8B-F06A-4645-927A-90FC0B9BF3EA}" destId="{4E976C21-2E9A-4DCF-BC95-8C5C15DC7310}" srcOrd="4" destOrd="0" parTransId="{8BB85B57-82B1-4CAC-BA2A-60FB01280D1B}" sibTransId="{0791C720-7C9D-4A88-BC36-A07EE735040C}"/>
    <dgm:cxn modelId="{CA0758DC-DF88-4399-BB97-F31F26F72F0A}" type="presOf" srcId="{31253AAD-78C2-40E8-B443-C635ACE422BF}" destId="{C3DE9338-8D3E-4BC9-8643-488966EEBD1F}" srcOrd="0" destOrd="0" presId="urn:microsoft.com/office/officeart/2005/8/layout/hierarchy6"/>
    <dgm:cxn modelId="{520908DD-17B4-4D11-9D38-4E1D1D09686D}" type="presOf" srcId="{C7F17736-8140-4885-AAE8-3276CC53FE41}" destId="{611C3D41-0BB0-4A35-BCB3-D195C1FBB310}" srcOrd="0" destOrd="0" presId="urn:microsoft.com/office/officeart/2005/8/layout/hierarchy6"/>
    <dgm:cxn modelId="{5D39CCDE-6610-42B4-B2BE-2C08B1A326EA}" type="presOf" srcId="{E42F3341-23E9-4C25-9C7B-216CCD636793}" destId="{16F97F5A-E14E-44F6-B0A3-0EA1E048B4BC}" srcOrd="0" destOrd="0" presId="urn:microsoft.com/office/officeart/2005/8/layout/hierarchy6"/>
    <dgm:cxn modelId="{7CCCF9E0-0B75-419B-9E1E-5B197A083151}" type="presOf" srcId="{DCEA3C73-A17C-4915-88A2-050A38086F2D}" destId="{98D65F77-35EE-433A-B208-EB8268E0BD49}" srcOrd="0" destOrd="0" presId="urn:microsoft.com/office/officeart/2005/8/layout/hierarchy6"/>
    <dgm:cxn modelId="{52F3AFE9-5CA6-4DAA-B908-BC85B3C535CA}" srcId="{0ECCCE8B-F06A-4645-927A-90FC0B9BF3EA}" destId="{31253AAD-78C2-40E8-B443-C635ACE422BF}" srcOrd="0" destOrd="0" parTransId="{9F6AA203-A461-4B0D-A490-D3D7E6DB7B01}" sibTransId="{3975AC96-19E1-448F-AE88-2B3C68320FB2}"/>
    <dgm:cxn modelId="{095573F8-2D89-4394-B9E5-A2CE068C3544}" type="presOf" srcId="{185F8177-93C6-4960-B174-61FCCDB93E41}" destId="{5BB58415-C550-47E3-99E1-5EDC111F3245}" srcOrd="0" destOrd="0" presId="urn:microsoft.com/office/officeart/2005/8/layout/hierarchy6"/>
    <dgm:cxn modelId="{F46889FF-D9FD-4131-A1AD-673707A0E9BB}" srcId="{0ECCCE8B-F06A-4645-927A-90FC0B9BF3EA}" destId="{149DDD2F-58A6-4634-A12D-B6214AB1AD17}" srcOrd="3" destOrd="0" parTransId="{09DD16C9-E38B-4CF4-8164-4E7DFCFEBE88}" sibTransId="{5928903A-D5E0-4743-A695-C984D59631A6}"/>
    <dgm:cxn modelId="{67FD1132-BF6D-4DF1-8589-472940C1C007}" type="presParOf" srcId="{78DB1E59-EFEE-49B9-A075-0E3EF8D2F559}" destId="{5ADD4455-A519-4B1D-BA7A-1D5CBB1DEA62}" srcOrd="0" destOrd="0" presId="urn:microsoft.com/office/officeart/2005/8/layout/hierarchy6"/>
    <dgm:cxn modelId="{902C6E09-19B2-454B-8C13-010B4670D2AC}" type="presParOf" srcId="{5ADD4455-A519-4B1D-BA7A-1D5CBB1DEA62}" destId="{D03B7BF5-9208-4F24-A662-D4BC0E7500DB}" srcOrd="0" destOrd="0" presId="urn:microsoft.com/office/officeart/2005/8/layout/hierarchy6"/>
    <dgm:cxn modelId="{705377D6-5F75-419D-AD50-172453B19B11}" type="presParOf" srcId="{D03B7BF5-9208-4F24-A662-D4BC0E7500DB}" destId="{AC407DA0-4513-4D29-A940-EB29BEE12D14}" srcOrd="0" destOrd="0" presId="urn:microsoft.com/office/officeart/2005/8/layout/hierarchy6"/>
    <dgm:cxn modelId="{5D298BDB-3793-452C-A609-4378F283DDFD}" type="presParOf" srcId="{AC407DA0-4513-4D29-A940-EB29BEE12D14}" destId="{2C0E5CED-8709-48B4-B1DC-9EEE977125A7}" srcOrd="0" destOrd="0" presId="urn:microsoft.com/office/officeart/2005/8/layout/hierarchy6"/>
    <dgm:cxn modelId="{3811219A-7229-45F4-B294-B7F7A4280B18}" type="presParOf" srcId="{AC407DA0-4513-4D29-A940-EB29BEE12D14}" destId="{CD27FCA3-86FA-4E37-9766-DD43126D80DF}" srcOrd="1" destOrd="0" presId="urn:microsoft.com/office/officeart/2005/8/layout/hierarchy6"/>
    <dgm:cxn modelId="{89D6CC4E-D71A-48DD-8DD0-E45B69B12C54}" type="presParOf" srcId="{CD27FCA3-86FA-4E37-9766-DD43126D80DF}" destId="{6D4E9007-119F-4749-B7EE-CCE4F4D610D6}" srcOrd="0" destOrd="0" presId="urn:microsoft.com/office/officeart/2005/8/layout/hierarchy6"/>
    <dgm:cxn modelId="{B2636175-F698-4C7C-8601-45C3EE428050}" type="presParOf" srcId="{CD27FCA3-86FA-4E37-9766-DD43126D80DF}" destId="{DE740CA9-06F0-4A90-A67A-60588D45CF4E}" srcOrd="1" destOrd="0" presId="urn:microsoft.com/office/officeart/2005/8/layout/hierarchy6"/>
    <dgm:cxn modelId="{876570A4-97FF-4CA2-9513-47732FF5C8BA}" type="presParOf" srcId="{DE740CA9-06F0-4A90-A67A-60588D45CF4E}" destId="{C3DE9338-8D3E-4BC9-8643-488966EEBD1F}" srcOrd="0" destOrd="0" presId="urn:microsoft.com/office/officeart/2005/8/layout/hierarchy6"/>
    <dgm:cxn modelId="{250EF37A-1D42-4D10-A433-6A00E6B04FF0}" type="presParOf" srcId="{DE740CA9-06F0-4A90-A67A-60588D45CF4E}" destId="{E7FC4C1B-C0B7-4333-894F-DC8558415834}" srcOrd="1" destOrd="0" presId="urn:microsoft.com/office/officeart/2005/8/layout/hierarchy6"/>
    <dgm:cxn modelId="{E81711A5-08CD-431C-80BE-551CA1910D21}" type="presParOf" srcId="{E7FC4C1B-C0B7-4333-894F-DC8558415834}" destId="{AEE9A6B6-E240-41DA-83B0-9D9296FFBBD9}" srcOrd="0" destOrd="0" presId="urn:microsoft.com/office/officeart/2005/8/layout/hierarchy6"/>
    <dgm:cxn modelId="{5EC46406-7535-4B01-9443-85E925C25C85}" type="presParOf" srcId="{E7FC4C1B-C0B7-4333-894F-DC8558415834}" destId="{B76D4C82-68DA-48C1-89D3-21606A0C9E40}" srcOrd="1" destOrd="0" presId="urn:microsoft.com/office/officeart/2005/8/layout/hierarchy6"/>
    <dgm:cxn modelId="{C84593A2-AFD9-4E23-A1C8-B7D53A1D0048}" type="presParOf" srcId="{B76D4C82-68DA-48C1-89D3-21606A0C9E40}" destId="{81C361AB-4651-4CC4-9C11-6165BDABB50D}" srcOrd="0" destOrd="0" presId="urn:microsoft.com/office/officeart/2005/8/layout/hierarchy6"/>
    <dgm:cxn modelId="{D7A2BBA3-BBEA-416C-8CDE-1021B7E813CE}" type="presParOf" srcId="{B76D4C82-68DA-48C1-89D3-21606A0C9E40}" destId="{38980564-223F-4890-9592-749329851652}" srcOrd="1" destOrd="0" presId="urn:microsoft.com/office/officeart/2005/8/layout/hierarchy6"/>
    <dgm:cxn modelId="{A8AD45E3-3BCD-42F3-B618-C6995F2778A5}" type="presParOf" srcId="{E7FC4C1B-C0B7-4333-894F-DC8558415834}" destId="{611C3D41-0BB0-4A35-BCB3-D195C1FBB310}" srcOrd="2" destOrd="0" presId="urn:microsoft.com/office/officeart/2005/8/layout/hierarchy6"/>
    <dgm:cxn modelId="{6FB565CC-6895-4046-BB09-0F2C44751188}" type="presParOf" srcId="{E7FC4C1B-C0B7-4333-894F-DC8558415834}" destId="{95D6BFA6-397C-4748-9062-A7D7781D8D38}" srcOrd="3" destOrd="0" presId="urn:microsoft.com/office/officeart/2005/8/layout/hierarchy6"/>
    <dgm:cxn modelId="{B2CF7588-E5CF-42B4-8F39-F1AC14FFF6A2}" type="presParOf" srcId="{95D6BFA6-397C-4748-9062-A7D7781D8D38}" destId="{FCFD86BB-C52F-421D-B8CD-A14E6A1440C1}" srcOrd="0" destOrd="0" presId="urn:microsoft.com/office/officeart/2005/8/layout/hierarchy6"/>
    <dgm:cxn modelId="{D0807322-FEF1-4CBF-8372-D7DD4F524A59}" type="presParOf" srcId="{95D6BFA6-397C-4748-9062-A7D7781D8D38}" destId="{FF5334B0-DF63-4E8D-9E4A-EB3BF05C3B3E}" srcOrd="1" destOrd="0" presId="urn:microsoft.com/office/officeart/2005/8/layout/hierarchy6"/>
    <dgm:cxn modelId="{30DE3B80-6061-45B0-A365-1833EDF8B5EC}" type="presParOf" srcId="{CD27FCA3-86FA-4E37-9766-DD43126D80DF}" destId="{8C7AC658-D7AD-4B8E-819C-50DCE8013BF7}" srcOrd="2" destOrd="0" presId="urn:microsoft.com/office/officeart/2005/8/layout/hierarchy6"/>
    <dgm:cxn modelId="{C2C681DA-37F7-4F1C-B3D3-764FE94BE756}" type="presParOf" srcId="{CD27FCA3-86FA-4E37-9766-DD43126D80DF}" destId="{61C9A4F1-1D56-43A0-B22E-88230DFDD69C}" srcOrd="3" destOrd="0" presId="urn:microsoft.com/office/officeart/2005/8/layout/hierarchy6"/>
    <dgm:cxn modelId="{8FBD9A32-9FE8-425B-B2A9-EDF8673B02CF}" type="presParOf" srcId="{61C9A4F1-1D56-43A0-B22E-88230DFDD69C}" destId="{EFAE39A6-3588-4410-A678-1B41C2102585}" srcOrd="0" destOrd="0" presId="urn:microsoft.com/office/officeart/2005/8/layout/hierarchy6"/>
    <dgm:cxn modelId="{B3D4FC72-FF1D-4557-9A61-E006A88A1D16}" type="presParOf" srcId="{61C9A4F1-1D56-43A0-B22E-88230DFDD69C}" destId="{CFF97D7C-F5CF-4778-9663-82E2A2ADC10C}" srcOrd="1" destOrd="0" presId="urn:microsoft.com/office/officeart/2005/8/layout/hierarchy6"/>
    <dgm:cxn modelId="{41B67CB0-2F3D-4D4B-9398-39F86F76BAE1}" type="presParOf" srcId="{CFF97D7C-F5CF-4778-9663-82E2A2ADC10C}" destId="{F2C7E39E-1CDF-4516-A3C0-76E175F21F3C}" srcOrd="0" destOrd="0" presId="urn:microsoft.com/office/officeart/2005/8/layout/hierarchy6"/>
    <dgm:cxn modelId="{E7BB140E-A160-4930-83A5-415027246527}" type="presParOf" srcId="{CFF97D7C-F5CF-4778-9663-82E2A2ADC10C}" destId="{58109948-F3B4-4A9E-94B9-FD01CC01CA58}" srcOrd="1" destOrd="0" presId="urn:microsoft.com/office/officeart/2005/8/layout/hierarchy6"/>
    <dgm:cxn modelId="{F996A6E0-A49E-411E-A5CF-B5907727C366}" type="presParOf" srcId="{58109948-F3B4-4A9E-94B9-FD01CC01CA58}" destId="{1D403B9C-BFF1-40B4-8437-0641824C3D81}" srcOrd="0" destOrd="0" presId="urn:microsoft.com/office/officeart/2005/8/layout/hierarchy6"/>
    <dgm:cxn modelId="{E2F23AE6-A18B-49A5-87DA-DDECF26C1852}" type="presParOf" srcId="{58109948-F3B4-4A9E-94B9-FD01CC01CA58}" destId="{CDD4271F-1B3B-465D-AF70-C97FF60B3E12}" srcOrd="1" destOrd="0" presId="urn:microsoft.com/office/officeart/2005/8/layout/hierarchy6"/>
    <dgm:cxn modelId="{F416ED06-C160-4B55-AED9-0C4ECC95C1AE}" type="presParOf" srcId="{CFF97D7C-F5CF-4778-9663-82E2A2ADC10C}" destId="{B082A2F4-D458-4703-B092-C4978A5EF073}" srcOrd="2" destOrd="0" presId="urn:microsoft.com/office/officeart/2005/8/layout/hierarchy6"/>
    <dgm:cxn modelId="{6FD97CEF-2C02-4804-8870-9C6B35635FBD}" type="presParOf" srcId="{CFF97D7C-F5CF-4778-9663-82E2A2ADC10C}" destId="{FA26E423-917E-4CCA-909A-A25BA09F26DB}" srcOrd="3" destOrd="0" presId="urn:microsoft.com/office/officeart/2005/8/layout/hierarchy6"/>
    <dgm:cxn modelId="{BF56C504-6C14-4C98-8F60-FC0F3E711ADE}" type="presParOf" srcId="{FA26E423-917E-4CCA-909A-A25BA09F26DB}" destId="{726F3CEE-B450-4FD6-A327-89B096C4E23C}" srcOrd="0" destOrd="0" presId="urn:microsoft.com/office/officeart/2005/8/layout/hierarchy6"/>
    <dgm:cxn modelId="{8A34B646-C55B-4738-B1F6-CA88A3E6EB58}" type="presParOf" srcId="{FA26E423-917E-4CCA-909A-A25BA09F26DB}" destId="{AFD63753-3CA8-4047-84E4-E626BA85A72B}" srcOrd="1" destOrd="0" presId="urn:microsoft.com/office/officeart/2005/8/layout/hierarchy6"/>
    <dgm:cxn modelId="{3FB7D342-DAA5-46C0-A758-681F0BB72A17}" type="presParOf" srcId="{CD27FCA3-86FA-4E37-9766-DD43126D80DF}" destId="{23531883-7BB1-4AF4-AAEF-56069EA40AAA}" srcOrd="4" destOrd="0" presId="urn:microsoft.com/office/officeart/2005/8/layout/hierarchy6"/>
    <dgm:cxn modelId="{BBAFFB3E-681D-46E4-9EDA-14E6BF96D43B}" type="presParOf" srcId="{CD27FCA3-86FA-4E37-9766-DD43126D80DF}" destId="{8256981F-C0A6-446C-AD0B-DD6A8F7AFF41}" srcOrd="5" destOrd="0" presId="urn:microsoft.com/office/officeart/2005/8/layout/hierarchy6"/>
    <dgm:cxn modelId="{F0D20BD1-BC30-47C5-8103-D8C12477E0C7}" type="presParOf" srcId="{8256981F-C0A6-446C-AD0B-DD6A8F7AFF41}" destId="{9C4E23E1-97E5-482A-8677-E55003B68DEC}" srcOrd="0" destOrd="0" presId="urn:microsoft.com/office/officeart/2005/8/layout/hierarchy6"/>
    <dgm:cxn modelId="{29F82A38-93C1-48A1-A140-2308C47FA84B}" type="presParOf" srcId="{8256981F-C0A6-446C-AD0B-DD6A8F7AFF41}" destId="{DA274475-1CFF-47C2-8C38-A46222881471}" srcOrd="1" destOrd="0" presId="urn:microsoft.com/office/officeart/2005/8/layout/hierarchy6"/>
    <dgm:cxn modelId="{1BCA483B-E756-468F-A546-A975E843954D}" type="presParOf" srcId="{DA274475-1CFF-47C2-8C38-A46222881471}" destId="{21E5417B-9294-4E6B-8F6E-29429E46B3DD}" srcOrd="0" destOrd="0" presId="urn:microsoft.com/office/officeart/2005/8/layout/hierarchy6"/>
    <dgm:cxn modelId="{10FC1E5E-C40A-444B-8B4D-990808236456}" type="presParOf" srcId="{DA274475-1CFF-47C2-8C38-A46222881471}" destId="{A98EBD40-016E-44E0-AD1F-365508C82C7C}" srcOrd="1" destOrd="0" presId="urn:microsoft.com/office/officeart/2005/8/layout/hierarchy6"/>
    <dgm:cxn modelId="{2A7B72B0-8F35-49CA-A0B6-5CEE8B164F01}" type="presParOf" srcId="{A98EBD40-016E-44E0-AD1F-365508C82C7C}" destId="{94696092-7BFB-4C6E-8B8D-CFF005611B89}" srcOrd="0" destOrd="0" presId="urn:microsoft.com/office/officeart/2005/8/layout/hierarchy6"/>
    <dgm:cxn modelId="{EF73EE3B-63CA-49ED-BC8A-2DD05BA4E4C6}" type="presParOf" srcId="{A98EBD40-016E-44E0-AD1F-365508C82C7C}" destId="{AFE20BE5-8EDA-45AB-8C82-44BD62A49CC2}" srcOrd="1" destOrd="0" presId="urn:microsoft.com/office/officeart/2005/8/layout/hierarchy6"/>
    <dgm:cxn modelId="{01E6908A-A2B6-441E-AB7A-EC66B3D94435}" type="presParOf" srcId="{DA274475-1CFF-47C2-8C38-A46222881471}" destId="{4751586E-60B8-4D8C-80C7-9734B1A2E8D3}" srcOrd="2" destOrd="0" presId="urn:microsoft.com/office/officeart/2005/8/layout/hierarchy6"/>
    <dgm:cxn modelId="{DDA403BA-76D3-4CA2-B262-0B266EC7A256}" type="presParOf" srcId="{DA274475-1CFF-47C2-8C38-A46222881471}" destId="{08F6A425-C430-4E48-9D93-E433B0233391}" srcOrd="3" destOrd="0" presId="urn:microsoft.com/office/officeart/2005/8/layout/hierarchy6"/>
    <dgm:cxn modelId="{45FEA011-EFAF-4B31-98EE-EA47D94950A0}" type="presParOf" srcId="{08F6A425-C430-4E48-9D93-E433B0233391}" destId="{D4ED9D10-C58B-4221-B595-AF39BA6FE905}" srcOrd="0" destOrd="0" presId="urn:microsoft.com/office/officeart/2005/8/layout/hierarchy6"/>
    <dgm:cxn modelId="{C6A29DA3-6E58-435E-98BF-DCB657F7884C}" type="presParOf" srcId="{08F6A425-C430-4E48-9D93-E433B0233391}" destId="{B4623A55-5C48-4333-A0AB-E90C54128CA6}" srcOrd="1" destOrd="0" presId="urn:microsoft.com/office/officeart/2005/8/layout/hierarchy6"/>
    <dgm:cxn modelId="{02507252-E802-4B97-873C-426EE0D3A7FF}" type="presParOf" srcId="{CD27FCA3-86FA-4E37-9766-DD43126D80DF}" destId="{07E4BE0B-B3C5-4847-9376-2DFA6A2DB9DB}" srcOrd="6" destOrd="0" presId="urn:microsoft.com/office/officeart/2005/8/layout/hierarchy6"/>
    <dgm:cxn modelId="{F9510049-68EA-4B89-9C15-E82E182EA245}" type="presParOf" srcId="{CD27FCA3-86FA-4E37-9766-DD43126D80DF}" destId="{56E3CDB5-C223-40A3-A596-8D5E1D542949}" srcOrd="7" destOrd="0" presId="urn:microsoft.com/office/officeart/2005/8/layout/hierarchy6"/>
    <dgm:cxn modelId="{5B195F20-0937-4377-A424-F2C8ACB2ECA1}" type="presParOf" srcId="{56E3CDB5-C223-40A3-A596-8D5E1D542949}" destId="{83F3F478-DCD2-4933-8DE9-FCB3C5A26C35}" srcOrd="0" destOrd="0" presId="urn:microsoft.com/office/officeart/2005/8/layout/hierarchy6"/>
    <dgm:cxn modelId="{1F6A5E86-1B81-427E-8862-5C6AA5865AD8}" type="presParOf" srcId="{56E3CDB5-C223-40A3-A596-8D5E1D542949}" destId="{C0E816CD-2232-43AB-BD8E-D731E641512A}" srcOrd="1" destOrd="0" presId="urn:microsoft.com/office/officeart/2005/8/layout/hierarchy6"/>
    <dgm:cxn modelId="{C3A70E5C-F88A-48BA-BAF0-2743E381F87F}" type="presParOf" srcId="{C0E816CD-2232-43AB-BD8E-D731E641512A}" destId="{83EEEEF0-5480-409A-B84F-53606C1B7DFF}" srcOrd="0" destOrd="0" presId="urn:microsoft.com/office/officeart/2005/8/layout/hierarchy6"/>
    <dgm:cxn modelId="{D6FBFDA4-CB27-486B-8595-F8080CBFE88F}" type="presParOf" srcId="{C0E816CD-2232-43AB-BD8E-D731E641512A}" destId="{27645EEF-284A-42EC-A3F8-C97EC6F105B6}" srcOrd="1" destOrd="0" presId="urn:microsoft.com/office/officeart/2005/8/layout/hierarchy6"/>
    <dgm:cxn modelId="{5CB0D7C7-BCD6-4457-99A6-2A16D36865E3}" type="presParOf" srcId="{27645EEF-284A-42EC-A3F8-C97EC6F105B6}" destId="{0A3E7366-3FF9-452D-8DB3-B8A0223A2C7B}" srcOrd="0" destOrd="0" presId="urn:microsoft.com/office/officeart/2005/8/layout/hierarchy6"/>
    <dgm:cxn modelId="{8D9B62CF-2534-477F-9BA9-5DB5E9F08BCF}" type="presParOf" srcId="{27645EEF-284A-42EC-A3F8-C97EC6F105B6}" destId="{02EC0CE7-EEF3-4BE8-8FC2-4E6F5ED2C975}" srcOrd="1" destOrd="0" presId="urn:microsoft.com/office/officeart/2005/8/layout/hierarchy6"/>
    <dgm:cxn modelId="{9FC479C1-3DD0-4D36-9881-D38A961BA467}" type="presParOf" srcId="{C0E816CD-2232-43AB-BD8E-D731E641512A}" destId="{16F97F5A-E14E-44F6-B0A3-0EA1E048B4BC}" srcOrd="2" destOrd="0" presId="urn:microsoft.com/office/officeart/2005/8/layout/hierarchy6"/>
    <dgm:cxn modelId="{DA24A1A0-0C20-43AC-A326-5974966E7C45}" type="presParOf" srcId="{C0E816CD-2232-43AB-BD8E-D731E641512A}" destId="{24BAE7BB-F083-4161-8F1D-9E250867CF89}" srcOrd="3" destOrd="0" presId="urn:microsoft.com/office/officeart/2005/8/layout/hierarchy6"/>
    <dgm:cxn modelId="{6EC383F9-71C0-467B-9747-F170DF9865EB}" type="presParOf" srcId="{24BAE7BB-F083-4161-8F1D-9E250867CF89}" destId="{6BD25873-9DD9-4085-A001-EF79FA3AC609}" srcOrd="0" destOrd="0" presId="urn:microsoft.com/office/officeart/2005/8/layout/hierarchy6"/>
    <dgm:cxn modelId="{970DA8C1-7AC8-4146-9060-064465ABC9AC}" type="presParOf" srcId="{24BAE7BB-F083-4161-8F1D-9E250867CF89}" destId="{26B5C7BF-EB9D-4F36-81CE-CDC4D0071D1C}" srcOrd="1" destOrd="0" presId="urn:microsoft.com/office/officeart/2005/8/layout/hierarchy6"/>
    <dgm:cxn modelId="{FF0B0CF4-417C-4968-8E3D-E5560C46D22B}" type="presParOf" srcId="{CD27FCA3-86FA-4E37-9766-DD43126D80DF}" destId="{C31AECA8-BE80-4614-8874-E9C998F574A0}" srcOrd="8" destOrd="0" presId="urn:microsoft.com/office/officeart/2005/8/layout/hierarchy6"/>
    <dgm:cxn modelId="{ABB6E7AB-8EC5-4269-B977-F0E236303E47}" type="presParOf" srcId="{CD27FCA3-86FA-4E37-9766-DD43126D80DF}" destId="{C5343985-83E8-4D7C-B8EC-352F0A831080}" srcOrd="9" destOrd="0" presId="urn:microsoft.com/office/officeart/2005/8/layout/hierarchy6"/>
    <dgm:cxn modelId="{8E419B0C-59E7-4264-847B-8564D898BC4F}" type="presParOf" srcId="{C5343985-83E8-4D7C-B8EC-352F0A831080}" destId="{519505CC-CF99-459B-A098-5A9CEB31097B}" srcOrd="0" destOrd="0" presId="urn:microsoft.com/office/officeart/2005/8/layout/hierarchy6"/>
    <dgm:cxn modelId="{B8BB0211-099A-4BB4-930B-25D2BAFEDB4B}" type="presParOf" srcId="{C5343985-83E8-4D7C-B8EC-352F0A831080}" destId="{AC7AA3DE-1D73-4838-9305-8A15B7ACDCD6}" srcOrd="1" destOrd="0" presId="urn:microsoft.com/office/officeart/2005/8/layout/hierarchy6"/>
    <dgm:cxn modelId="{685F03B4-6250-40ED-A5D5-2309E6B5B09A}" type="presParOf" srcId="{AC7AA3DE-1D73-4838-9305-8A15B7ACDCD6}" destId="{858F2FD3-058B-4CE4-8B97-7CEC6EB32A1A}" srcOrd="0" destOrd="0" presId="urn:microsoft.com/office/officeart/2005/8/layout/hierarchy6"/>
    <dgm:cxn modelId="{46172CCD-937D-45E7-9FF0-49DF741CC477}" type="presParOf" srcId="{AC7AA3DE-1D73-4838-9305-8A15B7ACDCD6}" destId="{DE502A86-29F2-4EA8-B0C3-45274E0B84B4}" srcOrd="1" destOrd="0" presId="urn:microsoft.com/office/officeart/2005/8/layout/hierarchy6"/>
    <dgm:cxn modelId="{8354B8B6-1208-477C-BFA7-0DE7BD0C35CE}" type="presParOf" srcId="{DE502A86-29F2-4EA8-B0C3-45274E0B84B4}" destId="{6FF11EE2-C613-4891-8160-E9DB5BC0C1F6}" srcOrd="0" destOrd="0" presId="urn:microsoft.com/office/officeart/2005/8/layout/hierarchy6"/>
    <dgm:cxn modelId="{D7DAA8F9-6B73-4441-A635-B85C27523750}" type="presParOf" srcId="{DE502A86-29F2-4EA8-B0C3-45274E0B84B4}" destId="{7A6ED237-DDCA-4490-B6D1-DD041F84E7FE}" srcOrd="1" destOrd="0" presId="urn:microsoft.com/office/officeart/2005/8/layout/hierarchy6"/>
    <dgm:cxn modelId="{2D0B7595-5EFC-4545-8313-7F3DECF2EA23}" type="presParOf" srcId="{AC7AA3DE-1D73-4838-9305-8A15B7ACDCD6}" destId="{98D65F77-35EE-433A-B208-EB8268E0BD49}" srcOrd="2" destOrd="0" presId="urn:microsoft.com/office/officeart/2005/8/layout/hierarchy6"/>
    <dgm:cxn modelId="{6F6A2D15-529F-4422-90B0-54860C4F349D}" type="presParOf" srcId="{AC7AA3DE-1D73-4838-9305-8A15B7ACDCD6}" destId="{C372B8F5-5BFB-40E3-B728-ECF447C848EF}" srcOrd="3" destOrd="0" presId="urn:microsoft.com/office/officeart/2005/8/layout/hierarchy6"/>
    <dgm:cxn modelId="{BD41FA91-2784-4126-B6E0-079E4FB84AB2}" type="presParOf" srcId="{C372B8F5-5BFB-40E3-B728-ECF447C848EF}" destId="{5BB58415-C550-47E3-99E1-5EDC111F3245}" srcOrd="0" destOrd="0" presId="urn:microsoft.com/office/officeart/2005/8/layout/hierarchy6"/>
    <dgm:cxn modelId="{4C4A38F0-A324-4C09-BCB0-92890A0B8DAA}" type="presParOf" srcId="{C372B8F5-5BFB-40E3-B728-ECF447C848EF}" destId="{AEC14A0E-0EAC-4E0E-86CE-62380CDD578C}" srcOrd="1" destOrd="0" presId="urn:microsoft.com/office/officeart/2005/8/layout/hierarchy6"/>
    <dgm:cxn modelId="{DF0B8841-A3F3-4ADE-9A68-1DC65EADAE6B}" type="presParOf" srcId="{78DB1E59-EFEE-49B9-A075-0E3EF8D2F559}" destId="{4891FE16-5619-475D-9627-DA0EF465E78F}"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0E5CED-8709-48B4-B1DC-9EEE977125A7}">
      <dsp:nvSpPr>
        <dsp:cNvPr id="0" name=""/>
        <dsp:cNvSpPr/>
      </dsp:nvSpPr>
      <dsp:spPr>
        <a:xfrm>
          <a:off x="4892199" y="1147736"/>
          <a:ext cx="2081779" cy="1205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Helvetica" pitchFamily="2" charset="0"/>
            </a:rPr>
            <a:t>CHURN RATE</a:t>
          </a:r>
        </a:p>
      </dsp:txBody>
      <dsp:txXfrm>
        <a:off x="4927498" y="1183035"/>
        <a:ext cx="2011181" cy="1134589"/>
      </dsp:txXfrm>
    </dsp:sp>
    <dsp:sp modelId="{6D4E9007-119F-4749-B7EE-CCE4F4D610D6}">
      <dsp:nvSpPr>
        <dsp:cNvPr id="0" name=""/>
        <dsp:cNvSpPr/>
      </dsp:nvSpPr>
      <dsp:spPr>
        <a:xfrm>
          <a:off x="1074792" y="2352923"/>
          <a:ext cx="4858296" cy="249143"/>
        </a:xfrm>
        <a:custGeom>
          <a:avLst/>
          <a:gdLst/>
          <a:ahLst/>
          <a:cxnLst/>
          <a:rect l="0" t="0" r="0" b="0"/>
          <a:pathLst>
            <a:path>
              <a:moveTo>
                <a:pt x="4858296" y="0"/>
              </a:moveTo>
              <a:lnTo>
                <a:pt x="4858296" y="124571"/>
              </a:lnTo>
              <a:lnTo>
                <a:pt x="0" y="124571"/>
              </a:lnTo>
              <a:lnTo>
                <a:pt x="0" y="2491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DE9338-8D3E-4BC9-8643-488966EEBD1F}">
      <dsp:nvSpPr>
        <dsp:cNvPr id="0" name=""/>
        <dsp:cNvSpPr/>
      </dsp:nvSpPr>
      <dsp:spPr>
        <a:xfrm>
          <a:off x="607649" y="2602067"/>
          <a:ext cx="934287" cy="622858"/>
        </a:xfrm>
        <a:prstGeom prst="roundRect">
          <a:avLst>
            <a:gd name="adj" fmla="val 10000"/>
          </a:avLst>
        </a:prstGeom>
        <a:solidFill>
          <a:schemeClr val="bg2"/>
        </a:solidFill>
        <a:ln w="28575"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solidFill>
                <a:schemeClr val="accent1"/>
              </a:solidFill>
              <a:latin typeface="Helvetica" pitchFamily="2" charset="0"/>
            </a:rPr>
            <a:t>Number of Products</a:t>
          </a:r>
        </a:p>
      </dsp:txBody>
      <dsp:txXfrm>
        <a:off x="625892" y="2620310"/>
        <a:ext cx="897801" cy="586372"/>
      </dsp:txXfrm>
    </dsp:sp>
    <dsp:sp modelId="{AEE9A6B6-E240-41DA-83B0-9D9296FFBBD9}">
      <dsp:nvSpPr>
        <dsp:cNvPr id="0" name=""/>
        <dsp:cNvSpPr/>
      </dsp:nvSpPr>
      <dsp:spPr>
        <a:xfrm>
          <a:off x="467505" y="3224925"/>
          <a:ext cx="607287" cy="249143"/>
        </a:xfrm>
        <a:custGeom>
          <a:avLst/>
          <a:gdLst/>
          <a:ahLst/>
          <a:cxnLst/>
          <a:rect l="0" t="0" r="0" b="0"/>
          <a:pathLst>
            <a:path>
              <a:moveTo>
                <a:pt x="607287" y="0"/>
              </a:moveTo>
              <a:lnTo>
                <a:pt x="607287" y="124571"/>
              </a:lnTo>
              <a:lnTo>
                <a:pt x="0" y="124571"/>
              </a:lnTo>
              <a:lnTo>
                <a:pt x="0"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C361AB-4651-4CC4-9C11-6165BDABB50D}">
      <dsp:nvSpPr>
        <dsp:cNvPr id="0" name=""/>
        <dsp:cNvSpPr/>
      </dsp:nvSpPr>
      <dsp:spPr>
        <a:xfrm>
          <a:off x="362" y="3474069"/>
          <a:ext cx="934287" cy="6228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dirty="0">
              <a:latin typeface="Helvetica" pitchFamily="2" charset="0"/>
            </a:rPr>
            <a:t>Risky – 4 products</a:t>
          </a:r>
        </a:p>
      </dsp:txBody>
      <dsp:txXfrm>
        <a:off x="18605" y="3492312"/>
        <a:ext cx="897801" cy="586372"/>
      </dsp:txXfrm>
    </dsp:sp>
    <dsp:sp modelId="{611C3D41-0BB0-4A35-BCB3-D195C1FBB310}">
      <dsp:nvSpPr>
        <dsp:cNvPr id="0" name=""/>
        <dsp:cNvSpPr/>
      </dsp:nvSpPr>
      <dsp:spPr>
        <a:xfrm>
          <a:off x="1074792" y="3224925"/>
          <a:ext cx="607287" cy="249143"/>
        </a:xfrm>
        <a:custGeom>
          <a:avLst/>
          <a:gdLst/>
          <a:ahLst/>
          <a:cxnLst/>
          <a:rect l="0" t="0" r="0" b="0"/>
          <a:pathLst>
            <a:path>
              <a:moveTo>
                <a:pt x="0" y="0"/>
              </a:moveTo>
              <a:lnTo>
                <a:pt x="0" y="124571"/>
              </a:lnTo>
              <a:lnTo>
                <a:pt x="607287" y="124571"/>
              </a:lnTo>
              <a:lnTo>
                <a:pt x="607287"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FD86BB-C52F-421D-B8CD-A14E6A1440C1}">
      <dsp:nvSpPr>
        <dsp:cNvPr id="0" name=""/>
        <dsp:cNvSpPr/>
      </dsp:nvSpPr>
      <dsp:spPr>
        <a:xfrm>
          <a:off x="1214936" y="3474069"/>
          <a:ext cx="934287" cy="622858"/>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dirty="0">
              <a:latin typeface="Helvetica" pitchFamily="2" charset="0"/>
            </a:rPr>
            <a:t>Safe – 2 products</a:t>
          </a:r>
        </a:p>
      </dsp:txBody>
      <dsp:txXfrm>
        <a:off x="1233179" y="3492312"/>
        <a:ext cx="897801" cy="586372"/>
      </dsp:txXfrm>
    </dsp:sp>
    <dsp:sp modelId="{8C7AC658-D7AD-4B8E-819C-50DCE8013BF7}">
      <dsp:nvSpPr>
        <dsp:cNvPr id="0" name=""/>
        <dsp:cNvSpPr/>
      </dsp:nvSpPr>
      <dsp:spPr>
        <a:xfrm>
          <a:off x="3503940" y="2352923"/>
          <a:ext cx="2429148" cy="249143"/>
        </a:xfrm>
        <a:custGeom>
          <a:avLst/>
          <a:gdLst/>
          <a:ahLst/>
          <a:cxnLst/>
          <a:rect l="0" t="0" r="0" b="0"/>
          <a:pathLst>
            <a:path>
              <a:moveTo>
                <a:pt x="2429148" y="0"/>
              </a:moveTo>
              <a:lnTo>
                <a:pt x="2429148" y="124571"/>
              </a:lnTo>
              <a:lnTo>
                <a:pt x="0" y="124571"/>
              </a:lnTo>
              <a:lnTo>
                <a:pt x="0" y="2491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AE39A6-3588-4410-A678-1B41C2102585}">
      <dsp:nvSpPr>
        <dsp:cNvPr id="0" name=""/>
        <dsp:cNvSpPr/>
      </dsp:nvSpPr>
      <dsp:spPr>
        <a:xfrm>
          <a:off x="3036797" y="2602067"/>
          <a:ext cx="934287" cy="622858"/>
        </a:xfrm>
        <a:prstGeom prst="roundRect">
          <a:avLst>
            <a:gd name="adj" fmla="val 10000"/>
          </a:avLst>
        </a:prstGeom>
        <a:solidFill>
          <a:schemeClr val="bg2"/>
        </a:solidFill>
        <a:ln w="28575"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solidFill>
                <a:schemeClr val="accent1"/>
              </a:solidFill>
              <a:latin typeface="Helvetica" pitchFamily="2" charset="0"/>
            </a:rPr>
            <a:t>Age Group </a:t>
          </a:r>
        </a:p>
      </dsp:txBody>
      <dsp:txXfrm>
        <a:off x="3055040" y="2620310"/>
        <a:ext cx="897801" cy="586372"/>
      </dsp:txXfrm>
    </dsp:sp>
    <dsp:sp modelId="{F2C7E39E-1CDF-4516-A3C0-76E175F21F3C}">
      <dsp:nvSpPr>
        <dsp:cNvPr id="0" name=""/>
        <dsp:cNvSpPr/>
      </dsp:nvSpPr>
      <dsp:spPr>
        <a:xfrm>
          <a:off x="2896653" y="3224925"/>
          <a:ext cx="607287" cy="249143"/>
        </a:xfrm>
        <a:custGeom>
          <a:avLst/>
          <a:gdLst/>
          <a:ahLst/>
          <a:cxnLst/>
          <a:rect l="0" t="0" r="0" b="0"/>
          <a:pathLst>
            <a:path>
              <a:moveTo>
                <a:pt x="607287" y="0"/>
              </a:moveTo>
              <a:lnTo>
                <a:pt x="607287" y="124571"/>
              </a:lnTo>
              <a:lnTo>
                <a:pt x="0" y="124571"/>
              </a:lnTo>
              <a:lnTo>
                <a:pt x="0"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403B9C-BFF1-40B4-8437-0641824C3D81}">
      <dsp:nvSpPr>
        <dsp:cNvPr id="0" name=""/>
        <dsp:cNvSpPr/>
      </dsp:nvSpPr>
      <dsp:spPr>
        <a:xfrm>
          <a:off x="2429510" y="3474069"/>
          <a:ext cx="934287" cy="6228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dirty="0">
              <a:latin typeface="Helvetica" pitchFamily="2" charset="0"/>
            </a:rPr>
            <a:t>Risky – Senior Citizens (50+)</a:t>
          </a:r>
        </a:p>
      </dsp:txBody>
      <dsp:txXfrm>
        <a:off x="2447753" y="3492312"/>
        <a:ext cx="897801" cy="586372"/>
      </dsp:txXfrm>
    </dsp:sp>
    <dsp:sp modelId="{B082A2F4-D458-4703-B092-C4978A5EF073}">
      <dsp:nvSpPr>
        <dsp:cNvPr id="0" name=""/>
        <dsp:cNvSpPr/>
      </dsp:nvSpPr>
      <dsp:spPr>
        <a:xfrm>
          <a:off x="3503940" y="3224925"/>
          <a:ext cx="607287" cy="249143"/>
        </a:xfrm>
        <a:custGeom>
          <a:avLst/>
          <a:gdLst/>
          <a:ahLst/>
          <a:cxnLst/>
          <a:rect l="0" t="0" r="0" b="0"/>
          <a:pathLst>
            <a:path>
              <a:moveTo>
                <a:pt x="0" y="0"/>
              </a:moveTo>
              <a:lnTo>
                <a:pt x="0" y="124571"/>
              </a:lnTo>
              <a:lnTo>
                <a:pt x="607287" y="124571"/>
              </a:lnTo>
              <a:lnTo>
                <a:pt x="607287"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6F3CEE-B450-4FD6-A327-89B096C4E23C}">
      <dsp:nvSpPr>
        <dsp:cNvPr id="0" name=""/>
        <dsp:cNvSpPr/>
      </dsp:nvSpPr>
      <dsp:spPr>
        <a:xfrm>
          <a:off x="3644084" y="3474069"/>
          <a:ext cx="934287" cy="622858"/>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latin typeface="Helvetica" pitchFamily="2" charset="0"/>
            </a:rPr>
            <a:t>Safe – Young Adults (18-30)</a:t>
          </a:r>
        </a:p>
      </dsp:txBody>
      <dsp:txXfrm>
        <a:off x="3662327" y="3492312"/>
        <a:ext cx="897801" cy="586372"/>
      </dsp:txXfrm>
    </dsp:sp>
    <dsp:sp modelId="{23531883-7BB1-4AF4-AAEF-56069EA40AAA}">
      <dsp:nvSpPr>
        <dsp:cNvPr id="0" name=""/>
        <dsp:cNvSpPr/>
      </dsp:nvSpPr>
      <dsp:spPr>
        <a:xfrm>
          <a:off x="5887368" y="2352923"/>
          <a:ext cx="91440" cy="249143"/>
        </a:xfrm>
        <a:custGeom>
          <a:avLst/>
          <a:gdLst/>
          <a:ahLst/>
          <a:cxnLst/>
          <a:rect l="0" t="0" r="0" b="0"/>
          <a:pathLst>
            <a:path>
              <a:moveTo>
                <a:pt x="45720" y="0"/>
              </a:moveTo>
              <a:lnTo>
                <a:pt x="45720" y="2491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4E23E1-97E5-482A-8677-E55003B68DEC}">
      <dsp:nvSpPr>
        <dsp:cNvPr id="0" name=""/>
        <dsp:cNvSpPr/>
      </dsp:nvSpPr>
      <dsp:spPr>
        <a:xfrm>
          <a:off x="5465945" y="2602067"/>
          <a:ext cx="934287" cy="622858"/>
        </a:xfrm>
        <a:prstGeom prst="roundRect">
          <a:avLst>
            <a:gd name="adj" fmla="val 10000"/>
          </a:avLst>
        </a:prstGeom>
        <a:solidFill>
          <a:schemeClr val="bg2"/>
        </a:solidFill>
        <a:ln w="28575"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solidFill>
                <a:schemeClr val="accent1"/>
              </a:solidFill>
              <a:latin typeface="Helvetica" pitchFamily="2" charset="0"/>
            </a:rPr>
            <a:t>Location </a:t>
          </a:r>
        </a:p>
      </dsp:txBody>
      <dsp:txXfrm>
        <a:off x="5484188" y="2620310"/>
        <a:ext cx="897801" cy="586372"/>
      </dsp:txXfrm>
    </dsp:sp>
    <dsp:sp modelId="{21E5417B-9294-4E6B-8F6E-29429E46B3DD}">
      <dsp:nvSpPr>
        <dsp:cNvPr id="0" name=""/>
        <dsp:cNvSpPr/>
      </dsp:nvSpPr>
      <dsp:spPr>
        <a:xfrm>
          <a:off x="5325801" y="3224925"/>
          <a:ext cx="607287" cy="249143"/>
        </a:xfrm>
        <a:custGeom>
          <a:avLst/>
          <a:gdLst/>
          <a:ahLst/>
          <a:cxnLst/>
          <a:rect l="0" t="0" r="0" b="0"/>
          <a:pathLst>
            <a:path>
              <a:moveTo>
                <a:pt x="607287" y="0"/>
              </a:moveTo>
              <a:lnTo>
                <a:pt x="607287" y="124571"/>
              </a:lnTo>
              <a:lnTo>
                <a:pt x="0" y="124571"/>
              </a:lnTo>
              <a:lnTo>
                <a:pt x="0"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696092-7BFB-4C6E-8B8D-CFF005611B89}">
      <dsp:nvSpPr>
        <dsp:cNvPr id="0" name=""/>
        <dsp:cNvSpPr/>
      </dsp:nvSpPr>
      <dsp:spPr>
        <a:xfrm>
          <a:off x="4858658" y="3474069"/>
          <a:ext cx="934287" cy="6228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latin typeface="Helvetica" pitchFamily="2" charset="0"/>
            </a:rPr>
            <a:t>Risky – Germany</a:t>
          </a:r>
        </a:p>
      </dsp:txBody>
      <dsp:txXfrm>
        <a:off x="4876901" y="3492312"/>
        <a:ext cx="897801" cy="586372"/>
      </dsp:txXfrm>
    </dsp:sp>
    <dsp:sp modelId="{4751586E-60B8-4D8C-80C7-9734B1A2E8D3}">
      <dsp:nvSpPr>
        <dsp:cNvPr id="0" name=""/>
        <dsp:cNvSpPr/>
      </dsp:nvSpPr>
      <dsp:spPr>
        <a:xfrm>
          <a:off x="5933089" y="3224925"/>
          <a:ext cx="607287" cy="249143"/>
        </a:xfrm>
        <a:custGeom>
          <a:avLst/>
          <a:gdLst/>
          <a:ahLst/>
          <a:cxnLst/>
          <a:rect l="0" t="0" r="0" b="0"/>
          <a:pathLst>
            <a:path>
              <a:moveTo>
                <a:pt x="0" y="0"/>
              </a:moveTo>
              <a:lnTo>
                <a:pt x="0" y="124571"/>
              </a:lnTo>
              <a:lnTo>
                <a:pt x="607287" y="124571"/>
              </a:lnTo>
              <a:lnTo>
                <a:pt x="607287"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ED9D10-C58B-4221-B595-AF39BA6FE905}">
      <dsp:nvSpPr>
        <dsp:cNvPr id="0" name=""/>
        <dsp:cNvSpPr/>
      </dsp:nvSpPr>
      <dsp:spPr>
        <a:xfrm>
          <a:off x="6073232" y="3474069"/>
          <a:ext cx="934287" cy="622858"/>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latin typeface="Helvetica" pitchFamily="2" charset="0"/>
            </a:rPr>
            <a:t>Safe – France </a:t>
          </a:r>
        </a:p>
      </dsp:txBody>
      <dsp:txXfrm>
        <a:off x="6091475" y="3492312"/>
        <a:ext cx="897801" cy="586372"/>
      </dsp:txXfrm>
    </dsp:sp>
    <dsp:sp modelId="{07E4BE0B-B3C5-4847-9376-2DFA6A2DB9DB}">
      <dsp:nvSpPr>
        <dsp:cNvPr id="0" name=""/>
        <dsp:cNvSpPr/>
      </dsp:nvSpPr>
      <dsp:spPr>
        <a:xfrm>
          <a:off x="5933088" y="2352923"/>
          <a:ext cx="2429148" cy="249143"/>
        </a:xfrm>
        <a:custGeom>
          <a:avLst/>
          <a:gdLst/>
          <a:ahLst/>
          <a:cxnLst/>
          <a:rect l="0" t="0" r="0" b="0"/>
          <a:pathLst>
            <a:path>
              <a:moveTo>
                <a:pt x="0" y="0"/>
              </a:moveTo>
              <a:lnTo>
                <a:pt x="0" y="124571"/>
              </a:lnTo>
              <a:lnTo>
                <a:pt x="2429148" y="124571"/>
              </a:lnTo>
              <a:lnTo>
                <a:pt x="2429148" y="2491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F3F478-DCD2-4933-8DE9-FCB3C5A26C35}">
      <dsp:nvSpPr>
        <dsp:cNvPr id="0" name=""/>
        <dsp:cNvSpPr/>
      </dsp:nvSpPr>
      <dsp:spPr>
        <a:xfrm>
          <a:off x="7895093" y="2602067"/>
          <a:ext cx="934287" cy="622858"/>
        </a:xfrm>
        <a:prstGeom prst="roundRect">
          <a:avLst>
            <a:gd name="adj" fmla="val 10000"/>
          </a:avLst>
        </a:prstGeom>
        <a:solidFill>
          <a:schemeClr val="bg2"/>
        </a:solidFill>
        <a:ln w="28575"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solidFill>
                <a:schemeClr val="accent1"/>
              </a:solidFill>
              <a:latin typeface="Helvetica" pitchFamily="2" charset="0"/>
            </a:rPr>
            <a:t>User Activity</a:t>
          </a:r>
        </a:p>
      </dsp:txBody>
      <dsp:txXfrm>
        <a:off x="7913336" y="2620310"/>
        <a:ext cx="897801" cy="586372"/>
      </dsp:txXfrm>
    </dsp:sp>
    <dsp:sp modelId="{83EEEEF0-5480-409A-B84F-53606C1B7DFF}">
      <dsp:nvSpPr>
        <dsp:cNvPr id="0" name=""/>
        <dsp:cNvSpPr/>
      </dsp:nvSpPr>
      <dsp:spPr>
        <a:xfrm>
          <a:off x="7754950" y="3224925"/>
          <a:ext cx="607287" cy="249143"/>
        </a:xfrm>
        <a:custGeom>
          <a:avLst/>
          <a:gdLst/>
          <a:ahLst/>
          <a:cxnLst/>
          <a:rect l="0" t="0" r="0" b="0"/>
          <a:pathLst>
            <a:path>
              <a:moveTo>
                <a:pt x="607287" y="0"/>
              </a:moveTo>
              <a:lnTo>
                <a:pt x="607287" y="124571"/>
              </a:lnTo>
              <a:lnTo>
                <a:pt x="0" y="124571"/>
              </a:lnTo>
              <a:lnTo>
                <a:pt x="0"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3E7366-3FF9-452D-8DB3-B8A0223A2C7B}">
      <dsp:nvSpPr>
        <dsp:cNvPr id="0" name=""/>
        <dsp:cNvSpPr/>
      </dsp:nvSpPr>
      <dsp:spPr>
        <a:xfrm>
          <a:off x="7287806" y="3474069"/>
          <a:ext cx="934287" cy="6228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latin typeface="Helvetica" pitchFamily="2" charset="0"/>
            </a:rPr>
            <a:t>Risky – Inactive</a:t>
          </a:r>
        </a:p>
      </dsp:txBody>
      <dsp:txXfrm>
        <a:off x="7306049" y="3492312"/>
        <a:ext cx="897801" cy="586372"/>
      </dsp:txXfrm>
    </dsp:sp>
    <dsp:sp modelId="{16F97F5A-E14E-44F6-B0A3-0EA1E048B4BC}">
      <dsp:nvSpPr>
        <dsp:cNvPr id="0" name=""/>
        <dsp:cNvSpPr/>
      </dsp:nvSpPr>
      <dsp:spPr>
        <a:xfrm>
          <a:off x="8362237" y="3224925"/>
          <a:ext cx="607287" cy="249143"/>
        </a:xfrm>
        <a:custGeom>
          <a:avLst/>
          <a:gdLst/>
          <a:ahLst/>
          <a:cxnLst/>
          <a:rect l="0" t="0" r="0" b="0"/>
          <a:pathLst>
            <a:path>
              <a:moveTo>
                <a:pt x="0" y="0"/>
              </a:moveTo>
              <a:lnTo>
                <a:pt x="0" y="124571"/>
              </a:lnTo>
              <a:lnTo>
                <a:pt x="607287" y="124571"/>
              </a:lnTo>
              <a:lnTo>
                <a:pt x="607287"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D25873-9DD9-4085-A001-EF79FA3AC609}">
      <dsp:nvSpPr>
        <dsp:cNvPr id="0" name=""/>
        <dsp:cNvSpPr/>
      </dsp:nvSpPr>
      <dsp:spPr>
        <a:xfrm>
          <a:off x="8502380" y="3474069"/>
          <a:ext cx="934287" cy="622858"/>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latin typeface="Helvetica" pitchFamily="2" charset="0"/>
            </a:rPr>
            <a:t>Safe – Active</a:t>
          </a:r>
        </a:p>
      </dsp:txBody>
      <dsp:txXfrm>
        <a:off x="8520623" y="3492312"/>
        <a:ext cx="897801" cy="586372"/>
      </dsp:txXfrm>
    </dsp:sp>
    <dsp:sp modelId="{C31AECA8-BE80-4614-8874-E9C998F574A0}">
      <dsp:nvSpPr>
        <dsp:cNvPr id="0" name=""/>
        <dsp:cNvSpPr/>
      </dsp:nvSpPr>
      <dsp:spPr>
        <a:xfrm>
          <a:off x="5933088" y="2352923"/>
          <a:ext cx="4858296" cy="249143"/>
        </a:xfrm>
        <a:custGeom>
          <a:avLst/>
          <a:gdLst/>
          <a:ahLst/>
          <a:cxnLst/>
          <a:rect l="0" t="0" r="0" b="0"/>
          <a:pathLst>
            <a:path>
              <a:moveTo>
                <a:pt x="0" y="0"/>
              </a:moveTo>
              <a:lnTo>
                <a:pt x="0" y="124571"/>
              </a:lnTo>
              <a:lnTo>
                <a:pt x="4858296" y="124571"/>
              </a:lnTo>
              <a:lnTo>
                <a:pt x="4858296" y="2491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9505CC-CF99-459B-A098-5A9CEB31097B}">
      <dsp:nvSpPr>
        <dsp:cNvPr id="0" name=""/>
        <dsp:cNvSpPr/>
      </dsp:nvSpPr>
      <dsp:spPr>
        <a:xfrm>
          <a:off x="10324241" y="2602067"/>
          <a:ext cx="934287" cy="622858"/>
        </a:xfrm>
        <a:prstGeom prst="roundRect">
          <a:avLst>
            <a:gd name="adj" fmla="val 10000"/>
          </a:avLst>
        </a:prstGeom>
        <a:solidFill>
          <a:schemeClr val="bg2"/>
        </a:solidFill>
        <a:ln w="28575"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solidFill>
                <a:schemeClr val="accent1"/>
              </a:solidFill>
              <a:latin typeface="Helvetica" pitchFamily="2" charset="0"/>
            </a:rPr>
            <a:t>Gender </a:t>
          </a:r>
        </a:p>
      </dsp:txBody>
      <dsp:txXfrm>
        <a:off x="10342484" y="2620310"/>
        <a:ext cx="897801" cy="586372"/>
      </dsp:txXfrm>
    </dsp:sp>
    <dsp:sp modelId="{858F2FD3-058B-4CE4-8B97-7CEC6EB32A1A}">
      <dsp:nvSpPr>
        <dsp:cNvPr id="0" name=""/>
        <dsp:cNvSpPr/>
      </dsp:nvSpPr>
      <dsp:spPr>
        <a:xfrm>
          <a:off x="10184098" y="3224925"/>
          <a:ext cx="607287" cy="249143"/>
        </a:xfrm>
        <a:custGeom>
          <a:avLst/>
          <a:gdLst/>
          <a:ahLst/>
          <a:cxnLst/>
          <a:rect l="0" t="0" r="0" b="0"/>
          <a:pathLst>
            <a:path>
              <a:moveTo>
                <a:pt x="607287" y="0"/>
              </a:moveTo>
              <a:lnTo>
                <a:pt x="607287" y="124571"/>
              </a:lnTo>
              <a:lnTo>
                <a:pt x="0" y="124571"/>
              </a:lnTo>
              <a:lnTo>
                <a:pt x="0"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F11EE2-C613-4891-8160-E9DB5BC0C1F6}">
      <dsp:nvSpPr>
        <dsp:cNvPr id="0" name=""/>
        <dsp:cNvSpPr/>
      </dsp:nvSpPr>
      <dsp:spPr>
        <a:xfrm>
          <a:off x="9716954" y="3474069"/>
          <a:ext cx="934287" cy="6228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latin typeface="Helvetica" pitchFamily="2" charset="0"/>
            </a:rPr>
            <a:t>Risky – Female</a:t>
          </a:r>
        </a:p>
      </dsp:txBody>
      <dsp:txXfrm>
        <a:off x="9735197" y="3492312"/>
        <a:ext cx="897801" cy="586372"/>
      </dsp:txXfrm>
    </dsp:sp>
    <dsp:sp modelId="{98D65F77-35EE-433A-B208-EB8268E0BD49}">
      <dsp:nvSpPr>
        <dsp:cNvPr id="0" name=""/>
        <dsp:cNvSpPr/>
      </dsp:nvSpPr>
      <dsp:spPr>
        <a:xfrm>
          <a:off x="10791385" y="3224925"/>
          <a:ext cx="607287" cy="249143"/>
        </a:xfrm>
        <a:custGeom>
          <a:avLst/>
          <a:gdLst/>
          <a:ahLst/>
          <a:cxnLst/>
          <a:rect l="0" t="0" r="0" b="0"/>
          <a:pathLst>
            <a:path>
              <a:moveTo>
                <a:pt x="0" y="0"/>
              </a:moveTo>
              <a:lnTo>
                <a:pt x="0" y="124571"/>
              </a:lnTo>
              <a:lnTo>
                <a:pt x="607287" y="124571"/>
              </a:lnTo>
              <a:lnTo>
                <a:pt x="607287"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B58415-C550-47E3-99E1-5EDC111F3245}">
      <dsp:nvSpPr>
        <dsp:cNvPr id="0" name=""/>
        <dsp:cNvSpPr/>
      </dsp:nvSpPr>
      <dsp:spPr>
        <a:xfrm>
          <a:off x="10931528" y="3474069"/>
          <a:ext cx="934287" cy="622858"/>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latin typeface="Helvetica" pitchFamily="2" charset="0"/>
            </a:rPr>
            <a:t>Safe – Male</a:t>
          </a:r>
        </a:p>
      </dsp:txBody>
      <dsp:txXfrm>
        <a:off x="10949771" y="3492312"/>
        <a:ext cx="897801" cy="58637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E35780-321E-69C3-42C8-534A758836BF}"/>
              </a:ext>
            </a:extLst>
          </p:cNvPr>
          <p:cNvSpPr/>
          <p:nvPr userDrawn="1"/>
        </p:nvSpPr>
        <p:spPr>
          <a:xfrm>
            <a:off x="0" y="0"/>
            <a:ext cx="12192000" cy="900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C00F7A2-54C7-DF73-F186-FD8EC3F9C80B}"/>
              </a:ext>
            </a:extLst>
          </p:cNvPr>
          <p:cNvSpPr/>
          <p:nvPr userDrawn="1"/>
        </p:nvSpPr>
        <p:spPr>
          <a:xfrm>
            <a:off x="0" y="0"/>
            <a:ext cx="12192000" cy="82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B8DFF1D-D66B-43A8-D9E1-B65C431AF64B}"/>
              </a:ext>
            </a:extLst>
          </p:cNvPr>
          <p:cNvSpPr/>
          <p:nvPr userDrawn="1"/>
        </p:nvSpPr>
        <p:spPr>
          <a:xfrm>
            <a:off x="0" y="-2"/>
            <a:ext cx="12192000" cy="75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5F02FE2-3EAF-E4F8-C408-7D14F0FBF570}"/>
              </a:ext>
            </a:extLst>
          </p:cNvPr>
          <p:cNvSpPr/>
          <p:nvPr userDrawn="1"/>
        </p:nvSpPr>
        <p:spPr>
          <a:xfrm>
            <a:off x="0" y="6390968"/>
            <a:ext cx="12192000" cy="46703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ADD3FFCA-9058-7E17-3369-0C9B62B7636B}"/>
              </a:ext>
            </a:extLst>
          </p:cNvPr>
          <p:cNvSpPr>
            <a:spLocks noGrp="1"/>
          </p:cNvSpPr>
          <p:nvPr>
            <p:ph type="sldNum" sz="quarter" idx="12"/>
          </p:nvPr>
        </p:nvSpPr>
        <p:spPr>
          <a:xfrm>
            <a:off x="11002294" y="6444276"/>
            <a:ext cx="1138085" cy="365125"/>
          </a:xfrm>
        </p:spPr>
        <p:txBody>
          <a:bodyPr/>
          <a:lstStyle>
            <a:lvl1pPr>
              <a:defRPr sz="1000">
                <a:latin typeface="Helvetica" pitchFamily="2" charset="0"/>
              </a:defRPr>
            </a:lvl1pPr>
          </a:lstStyle>
          <a:p>
            <a:fld id="{AF5E9633-BCA5-4E17-935B-18F56ACA705B}" type="slidenum">
              <a:rPr lang="en-IN" smtClean="0"/>
              <a:pPr/>
              <a:t>‹#›</a:t>
            </a:fld>
            <a:endParaRPr lang="en-IN"/>
          </a:p>
        </p:txBody>
      </p:sp>
    </p:spTree>
    <p:extLst>
      <p:ext uri="{BB962C8B-B14F-4D97-AF65-F5344CB8AC3E}">
        <p14:creationId xmlns:p14="http://schemas.microsoft.com/office/powerpoint/2010/main" val="3993522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E35780-321E-69C3-42C8-534A758836BF}"/>
              </a:ext>
            </a:extLst>
          </p:cNvPr>
          <p:cNvSpPr/>
          <p:nvPr userDrawn="1"/>
        </p:nvSpPr>
        <p:spPr>
          <a:xfrm>
            <a:off x="0" y="0"/>
            <a:ext cx="12192000" cy="9000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C00F7A2-54C7-DF73-F186-FD8EC3F9C80B}"/>
              </a:ext>
            </a:extLst>
          </p:cNvPr>
          <p:cNvSpPr/>
          <p:nvPr userDrawn="1"/>
        </p:nvSpPr>
        <p:spPr>
          <a:xfrm>
            <a:off x="0" y="0"/>
            <a:ext cx="12192000" cy="82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B8DFF1D-D66B-43A8-D9E1-B65C431AF64B}"/>
              </a:ext>
            </a:extLst>
          </p:cNvPr>
          <p:cNvSpPr/>
          <p:nvPr userDrawn="1"/>
        </p:nvSpPr>
        <p:spPr>
          <a:xfrm>
            <a:off x="0" y="-2"/>
            <a:ext cx="12192000" cy="75600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5F02FE2-3EAF-E4F8-C408-7D14F0FBF570}"/>
              </a:ext>
            </a:extLst>
          </p:cNvPr>
          <p:cNvSpPr/>
          <p:nvPr userDrawn="1"/>
        </p:nvSpPr>
        <p:spPr>
          <a:xfrm>
            <a:off x="0" y="6390968"/>
            <a:ext cx="12192000" cy="4670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56709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87C9C91-84B5-5EA9-91DD-85F78D4EE5A8}"/>
              </a:ext>
            </a:extLst>
          </p:cNvPr>
          <p:cNvSpPr/>
          <p:nvPr userDrawn="1"/>
        </p:nvSpPr>
        <p:spPr>
          <a:xfrm>
            <a:off x="0" y="0"/>
            <a:ext cx="4562168" cy="6858000"/>
          </a:xfrm>
          <a:custGeom>
            <a:avLst/>
            <a:gdLst>
              <a:gd name="connsiteX0" fmla="*/ 2281084 w 4562168"/>
              <a:gd name="connsiteY0" fmla="*/ 2136058 h 6858000"/>
              <a:gd name="connsiteX1" fmla="*/ 988142 w 4562168"/>
              <a:gd name="connsiteY1" fmla="*/ 3429000 h 6858000"/>
              <a:gd name="connsiteX2" fmla="*/ 2281084 w 4562168"/>
              <a:gd name="connsiteY2" fmla="*/ 4721942 h 6858000"/>
              <a:gd name="connsiteX3" fmla="*/ 3574026 w 4562168"/>
              <a:gd name="connsiteY3" fmla="*/ 3429000 h 6858000"/>
              <a:gd name="connsiteX4" fmla="*/ 2281084 w 4562168"/>
              <a:gd name="connsiteY4" fmla="*/ 2136058 h 6858000"/>
              <a:gd name="connsiteX5" fmla="*/ 0 w 4562168"/>
              <a:gd name="connsiteY5" fmla="*/ 0 h 6858000"/>
              <a:gd name="connsiteX6" fmla="*/ 4562168 w 4562168"/>
              <a:gd name="connsiteY6" fmla="*/ 0 h 6858000"/>
              <a:gd name="connsiteX7" fmla="*/ 4562168 w 4562168"/>
              <a:gd name="connsiteY7" fmla="*/ 6858000 h 6858000"/>
              <a:gd name="connsiteX8" fmla="*/ 0 w 4562168"/>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168" h="6858000">
                <a:moveTo>
                  <a:pt x="2281084" y="2136058"/>
                </a:moveTo>
                <a:cubicBezTo>
                  <a:pt x="1567012" y="2136058"/>
                  <a:pt x="988142" y="2714928"/>
                  <a:pt x="988142" y="3429000"/>
                </a:cubicBezTo>
                <a:cubicBezTo>
                  <a:pt x="988142" y="4143072"/>
                  <a:pt x="1567012" y="4721942"/>
                  <a:pt x="2281084" y="4721942"/>
                </a:cubicBezTo>
                <a:cubicBezTo>
                  <a:pt x="2995156" y="4721942"/>
                  <a:pt x="3574026" y="4143072"/>
                  <a:pt x="3574026" y="3429000"/>
                </a:cubicBezTo>
                <a:cubicBezTo>
                  <a:pt x="3574026" y="2714928"/>
                  <a:pt x="2995156" y="2136058"/>
                  <a:pt x="2281084" y="2136058"/>
                </a:cubicBezTo>
                <a:close/>
                <a:moveTo>
                  <a:pt x="0" y="0"/>
                </a:moveTo>
                <a:lnTo>
                  <a:pt x="4562168" y="0"/>
                </a:lnTo>
                <a:lnTo>
                  <a:pt x="4562168" y="6858000"/>
                </a:lnTo>
                <a:lnTo>
                  <a:pt x="0" y="685800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539220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EA87-E5F6-9624-8151-0E83138A57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6C48B3-880E-1C51-2321-80EB994D4F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BDE305-2FD5-E7ED-E65B-5CE3B829FD60}"/>
              </a:ext>
            </a:extLst>
          </p:cNvPr>
          <p:cNvSpPr>
            <a:spLocks noGrp="1"/>
          </p:cNvSpPr>
          <p:nvPr>
            <p:ph type="dt" sz="half" idx="10"/>
          </p:nvPr>
        </p:nvSpPr>
        <p:spPr/>
        <p:txBody>
          <a:bodyPr/>
          <a:lstStyle/>
          <a:p>
            <a:fld id="{76CF251D-9F6C-4B91-8DEA-BB416800A9D7}" type="datetimeFigureOut">
              <a:rPr lang="en-IN" smtClean="0"/>
              <a:t>25-08-2025</a:t>
            </a:fld>
            <a:endParaRPr lang="en-IN"/>
          </a:p>
        </p:txBody>
      </p:sp>
      <p:sp>
        <p:nvSpPr>
          <p:cNvPr id="5" name="Footer Placeholder 4">
            <a:extLst>
              <a:ext uri="{FF2B5EF4-FFF2-40B4-BE49-F238E27FC236}">
                <a16:creationId xmlns:a16="http://schemas.microsoft.com/office/drawing/2014/main" id="{C84DB706-0FB6-C605-9D24-164F530418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65F080-EB2C-690E-A2ED-7AFAD4A61AFE}"/>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563737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E326-2731-11AC-D55B-72F87C78A6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0E2766-2E8C-B1A5-CD3C-12716477B5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C72158-5B59-4119-5343-5E3103F455CD}"/>
              </a:ext>
            </a:extLst>
          </p:cNvPr>
          <p:cNvSpPr>
            <a:spLocks noGrp="1"/>
          </p:cNvSpPr>
          <p:nvPr>
            <p:ph type="dt" sz="half" idx="10"/>
          </p:nvPr>
        </p:nvSpPr>
        <p:spPr/>
        <p:txBody>
          <a:bodyPr/>
          <a:lstStyle/>
          <a:p>
            <a:fld id="{76CF251D-9F6C-4B91-8DEA-BB416800A9D7}" type="datetimeFigureOut">
              <a:rPr lang="en-IN" smtClean="0"/>
              <a:t>25-08-2025</a:t>
            </a:fld>
            <a:endParaRPr lang="en-IN"/>
          </a:p>
        </p:txBody>
      </p:sp>
      <p:sp>
        <p:nvSpPr>
          <p:cNvPr id="5" name="Footer Placeholder 4">
            <a:extLst>
              <a:ext uri="{FF2B5EF4-FFF2-40B4-BE49-F238E27FC236}">
                <a16:creationId xmlns:a16="http://schemas.microsoft.com/office/drawing/2014/main" id="{107180EA-5F76-0C01-CABF-0545542E0F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AA0516-6363-425F-AC65-B1D7FD124979}"/>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1051223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9D11-E40D-A31B-C40F-C5AF459750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908542-0102-4D9C-B965-8C7421C747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1B806B-EFD9-1D0B-53C6-1CFCE8AF60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E9EB1E-1B1A-C1AA-B608-F4002C7AF556}"/>
              </a:ext>
            </a:extLst>
          </p:cNvPr>
          <p:cNvSpPr>
            <a:spLocks noGrp="1"/>
          </p:cNvSpPr>
          <p:nvPr>
            <p:ph type="dt" sz="half" idx="10"/>
          </p:nvPr>
        </p:nvSpPr>
        <p:spPr/>
        <p:txBody>
          <a:bodyPr/>
          <a:lstStyle/>
          <a:p>
            <a:fld id="{76CF251D-9F6C-4B91-8DEA-BB416800A9D7}" type="datetimeFigureOut">
              <a:rPr lang="en-IN" smtClean="0"/>
              <a:t>25-08-2025</a:t>
            </a:fld>
            <a:endParaRPr lang="en-IN"/>
          </a:p>
        </p:txBody>
      </p:sp>
      <p:sp>
        <p:nvSpPr>
          <p:cNvPr id="6" name="Footer Placeholder 5">
            <a:extLst>
              <a:ext uri="{FF2B5EF4-FFF2-40B4-BE49-F238E27FC236}">
                <a16:creationId xmlns:a16="http://schemas.microsoft.com/office/drawing/2014/main" id="{BE06DCD3-A26F-F4F1-F697-13CEFAC496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D27CED-EAB1-1765-C689-08F48CC387F2}"/>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3456483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06215-F963-FA4A-F512-5B13154A04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222DCE-AF5A-6778-DA1F-B69FFA77D4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C32913-058D-9E91-16A7-BDDB743C48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7F3E27-D644-7C9C-69C3-EBDF83B017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488FC5-946A-7E83-4246-42DE4BF1C7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AA83BB-F74B-AAA9-2E17-94A687FBD013}"/>
              </a:ext>
            </a:extLst>
          </p:cNvPr>
          <p:cNvSpPr>
            <a:spLocks noGrp="1"/>
          </p:cNvSpPr>
          <p:nvPr>
            <p:ph type="dt" sz="half" idx="10"/>
          </p:nvPr>
        </p:nvSpPr>
        <p:spPr/>
        <p:txBody>
          <a:bodyPr/>
          <a:lstStyle/>
          <a:p>
            <a:fld id="{76CF251D-9F6C-4B91-8DEA-BB416800A9D7}" type="datetimeFigureOut">
              <a:rPr lang="en-IN" smtClean="0"/>
              <a:t>25-08-2025</a:t>
            </a:fld>
            <a:endParaRPr lang="en-IN"/>
          </a:p>
        </p:txBody>
      </p:sp>
      <p:sp>
        <p:nvSpPr>
          <p:cNvPr id="8" name="Footer Placeholder 7">
            <a:extLst>
              <a:ext uri="{FF2B5EF4-FFF2-40B4-BE49-F238E27FC236}">
                <a16:creationId xmlns:a16="http://schemas.microsoft.com/office/drawing/2014/main" id="{55FB889B-BF36-7674-2EC2-06B7F85817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88B1AF-05B3-6EBC-3E1D-730E4CF76D90}"/>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1909490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D212-2660-21D5-6487-9FBF6E5A78E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5F4EF80-042D-5EE0-5A54-A9F009192C01}"/>
              </a:ext>
            </a:extLst>
          </p:cNvPr>
          <p:cNvSpPr>
            <a:spLocks noGrp="1"/>
          </p:cNvSpPr>
          <p:nvPr>
            <p:ph type="dt" sz="half" idx="10"/>
          </p:nvPr>
        </p:nvSpPr>
        <p:spPr/>
        <p:txBody>
          <a:bodyPr/>
          <a:lstStyle/>
          <a:p>
            <a:fld id="{76CF251D-9F6C-4B91-8DEA-BB416800A9D7}" type="datetimeFigureOut">
              <a:rPr lang="en-IN" smtClean="0"/>
              <a:t>25-08-2025</a:t>
            </a:fld>
            <a:endParaRPr lang="en-IN"/>
          </a:p>
        </p:txBody>
      </p:sp>
      <p:sp>
        <p:nvSpPr>
          <p:cNvPr id="4" name="Footer Placeholder 3">
            <a:extLst>
              <a:ext uri="{FF2B5EF4-FFF2-40B4-BE49-F238E27FC236}">
                <a16:creationId xmlns:a16="http://schemas.microsoft.com/office/drawing/2014/main" id="{F5B16F2E-ACA2-E2AC-D54D-E8210D517AD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69A2B0-0E8B-D018-BA0D-9468C5BCA16F}"/>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4007932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96C15-7F0B-D599-34A0-5670BFF5EE12}"/>
              </a:ext>
            </a:extLst>
          </p:cNvPr>
          <p:cNvSpPr>
            <a:spLocks noGrp="1"/>
          </p:cNvSpPr>
          <p:nvPr>
            <p:ph type="dt" sz="half" idx="10"/>
          </p:nvPr>
        </p:nvSpPr>
        <p:spPr/>
        <p:txBody>
          <a:bodyPr/>
          <a:lstStyle/>
          <a:p>
            <a:fld id="{76CF251D-9F6C-4B91-8DEA-BB416800A9D7}" type="datetimeFigureOut">
              <a:rPr lang="en-IN" smtClean="0"/>
              <a:t>25-08-2025</a:t>
            </a:fld>
            <a:endParaRPr lang="en-IN"/>
          </a:p>
        </p:txBody>
      </p:sp>
      <p:sp>
        <p:nvSpPr>
          <p:cNvPr id="3" name="Footer Placeholder 2">
            <a:extLst>
              <a:ext uri="{FF2B5EF4-FFF2-40B4-BE49-F238E27FC236}">
                <a16:creationId xmlns:a16="http://schemas.microsoft.com/office/drawing/2014/main" id="{353FDAB4-668C-4B94-7D3C-DD6A3C17B84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8F3456-3056-0761-2A47-0E008E6D614A}"/>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1597350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D0C0-8715-9239-23BA-573F845DE6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892EE2-DC00-C886-EF97-9B25F4A93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99452F-08CB-E2ED-0C02-75DF435398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757943-B1E2-FA8C-2CC7-91ED5CA7B7C8}"/>
              </a:ext>
            </a:extLst>
          </p:cNvPr>
          <p:cNvSpPr>
            <a:spLocks noGrp="1"/>
          </p:cNvSpPr>
          <p:nvPr>
            <p:ph type="dt" sz="half" idx="10"/>
          </p:nvPr>
        </p:nvSpPr>
        <p:spPr/>
        <p:txBody>
          <a:bodyPr/>
          <a:lstStyle/>
          <a:p>
            <a:fld id="{76CF251D-9F6C-4B91-8DEA-BB416800A9D7}" type="datetimeFigureOut">
              <a:rPr lang="en-IN" smtClean="0"/>
              <a:t>25-08-2025</a:t>
            </a:fld>
            <a:endParaRPr lang="en-IN"/>
          </a:p>
        </p:txBody>
      </p:sp>
      <p:sp>
        <p:nvSpPr>
          <p:cNvPr id="6" name="Footer Placeholder 5">
            <a:extLst>
              <a:ext uri="{FF2B5EF4-FFF2-40B4-BE49-F238E27FC236}">
                <a16:creationId xmlns:a16="http://schemas.microsoft.com/office/drawing/2014/main" id="{FC06EC16-947D-C102-9BFB-AC88CD5AF7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A8B935-A976-610E-EE65-719E8BAD9515}"/>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2303234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9D5CD-52FF-723A-37C3-3590ED6C3E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6E2281-3F93-EE76-E01A-36903964E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B77D59E-66DD-1F1B-E050-AE3ABD40E1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44A8B1-22BF-E45F-BBA6-C68785632CEC}"/>
              </a:ext>
            </a:extLst>
          </p:cNvPr>
          <p:cNvSpPr>
            <a:spLocks noGrp="1"/>
          </p:cNvSpPr>
          <p:nvPr>
            <p:ph type="dt" sz="half" idx="10"/>
          </p:nvPr>
        </p:nvSpPr>
        <p:spPr/>
        <p:txBody>
          <a:bodyPr/>
          <a:lstStyle/>
          <a:p>
            <a:fld id="{76CF251D-9F6C-4B91-8DEA-BB416800A9D7}" type="datetimeFigureOut">
              <a:rPr lang="en-IN" smtClean="0"/>
              <a:t>25-08-2025</a:t>
            </a:fld>
            <a:endParaRPr lang="en-IN"/>
          </a:p>
        </p:txBody>
      </p:sp>
      <p:sp>
        <p:nvSpPr>
          <p:cNvPr id="6" name="Footer Placeholder 5">
            <a:extLst>
              <a:ext uri="{FF2B5EF4-FFF2-40B4-BE49-F238E27FC236}">
                <a16:creationId xmlns:a16="http://schemas.microsoft.com/office/drawing/2014/main" id="{F10D8584-B480-CB32-67D4-47B9D03D5A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7FA861-FC17-D919-7B6A-1EA5A2F64916}"/>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4094287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4124-7235-C18E-BE1B-538C4B6866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86F694-DB5A-A50F-88B3-5F130E1CF1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DBC97E-F7BE-281B-71D6-DC2F4BB141C7}"/>
              </a:ext>
            </a:extLst>
          </p:cNvPr>
          <p:cNvSpPr>
            <a:spLocks noGrp="1"/>
          </p:cNvSpPr>
          <p:nvPr>
            <p:ph type="dt" sz="half" idx="10"/>
          </p:nvPr>
        </p:nvSpPr>
        <p:spPr/>
        <p:txBody>
          <a:bodyPr/>
          <a:lstStyle/>
          <a:p>
            <a:fld id="{76CF251D-9F6C-4B91-8DEA-BB416800A9D7}" type="datetimeFigureOut">
              <a:rPr lang="en-IN" smtClean="0"/>
              <a:t>25-08-2025</a:t>
            </a:fld>
            <a:endParaRPr lang="en-IN"/>
          </a:p>
        </p:txBody>
      </p:sp>
      <p:sp>
        <p:nvSpPr>
          <p:cNvPr id="5" name="Footer Placeholder 4">
            <a:extLst>
              <a:ext uri="{FF2B5EF4-FFF2-40B4-BE49-F238E27FC236}">
                <a16:creationId xmlns:a16="http://schemas.microsoft.com/office/drawing/2014/main" id="{F686A25E-EA08-1260-06CB-BB68920C54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E0C1C-C1CA-72C2-0564-CA425422A70B}"/>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2780747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BAD651-82BC-511D-B15D-EA67F54775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BCCAB5-30B1-B03D-5F1E-0F420B8F3D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22C266-62F2-A6D3-0678-B23CB4AEEC4E}"/>
              </a:ext>
            </a:extLst>
          </p:cNvPr>
          <p:cNvSpPr>
            <a:spLocks noGrp="1"/>
          </p:cNvSpPr>
          <p:nvPr>
            <p:ph type="dt" sz="half" idx="10"/>
          </p:nvPr>
        </p:nvSpPr>
        <p:spPr/>
        <p:txBody>
          <a:bodyPr/>
          <a:lstStyle/>
          <a:p>
            <a:fld id="{76CF251D-9F6C-4B91-8DEA-BB416800A9D7}" type="datetimeFigureOut">
              <a:rPr lang="en-IN" smtClean="0"/>
              <a:t>25-08-2025</a:t>
            </a:fld>
            <a:endParaRPr lang="en-IN"/>
          </a:p>
        </p:txBody>
      </p:sp>
      <p:sp>
        <p:nvSpPr>
          <p:cNvPr id="5" name="Footer Placeholder 4">
            <a:extLst>
              <a:ext uri="{FF2B5EF4-FFF2-40B4-BE49-F238E27FC236}">
                <a16:creationId xmlns:a16="http://schemas.microsoft.com/office/drawing/2014/main" id="{523E3862-6E9C-A1D1-B01E-A82537F62D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A9BAA1-0480-5AAC-F840-C741A468CD2D}"/>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2258070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A981AF-CE54-7DAE-D641-07146D99B5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053526-189D-E2AD-059B-C6214EC10D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BEA0B7-CFD1-BAE1-C3BB-ED58C05468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CF251D-9F6C-4B91-8DEA-BB416800A9D7}" type="datetimeFigureOut">
              <a:rPr lang="en-IN" smtClean="0"/>
              <a:t>25-08-2025</a:t>
            </a:fld>
            <a:endParaRPr lang="en-IN"/>
          </a:p>
        </p:txBody>
      </p:sp>
      <p:sp>
        <p:nvSpPr>
          <p:cNvPr id="5" name="Footer Placeholder 4">
            <a:extLst>
              <a:ext uri="{FF2B5EF4-FFF2-40B4-BE49-F238E27FC236}">
                <a16:creationId xmlns:a16="http://schemas.microsoft.com/office/drawing/2014/main" id="{5627A468-3F91-EFC7-DF2F-6815D34E52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784BD5-9079-6107-D9ED-CDF1746189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5E9633-BCA5-4E17-935B-18F56ACA705B}" type="slidenum">
              <a:rPr lang="en-IN" smtClean="0"/>
              <a:t>‹#›</a:t>
            </a:fld>
            <a:endParaRPr lang="en-IN"/>
          </a:p>
        </p:txBody>
      </p:sp>
    </p:spTree>
    <p:extLst>
      <p:ext uri="{BB962C8B-B14F-4D97-AF65-F5344CB8AC3E}">
        <p14:creationId xmlns:p14="http://schemas.microsoft.com/office/powerpoint/2010/main" val="334213525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8ECBBB7-C6CC-4166-635A-E1FE879DA6DB}"/>
              </a:ext>
            </a:extLst>
          </p:cNvPr>
          <p:cNvSpPr txBox="1"/>
          <p:nvPr/>
        </p:nvSpPr>
        <p:spPr>
          <a:xfrm>
            <a:off x="5307724" y="2382559"/>
            <a:ext cx="6243145" cy="1846659"/>
          </a:xfrm>
          <a:prstGeom prst="rect">
            <a:avLst/>
          </a:prstGeom>
          <a:noFill/>
        </p:spPr>
        <p:txBody>
          <a:bodyPr wrap="square" rtlCol="0">
            <a:spAutoFit/>
          </a:bodyPr>
          <a:lstStyle/>
          <a:p>
            <a:pPr algn="ctr"/>
            <a:r>
              <a:rPr lang="en-IN" sz="3200" dirty="0">
                <a:latin typeface="Helvetica" pitchFamily="2" charset="0"/>
                <a:ea typeface="Verdana" panose="020B0604030504040204" pitchFamily="34" charset="0"/>
              </a:rPr>
              <a:t>BANK CRM ANALYSIS</a:t>
            </a:r>
          </a:p>
          <a:p>
            <a:pPr algn="ctr"/>
            <a:endParaRPr lang="en-IN" sz="3200" dirty="0">
              <a:latin typeface="Helvetica" pitchFamily="2" charset="0"/>
              <a:ea typeface="Verdana" panose="020B0604030504040204" pitchFamily="34" charset="0"/>
            </a:endParaRPr>
          </a:p>
          <a:p>
            <a:pPr algn="ctr"/>
            <a:endParaRPr lang="en-IN" sz="3200" dirty="0">
              <a:latin typeface="Helvetica" pitchFamily="2" charset="0"/>
              <a:ea typeface="Verdana" panose="020B0604030504040204" pitchFamily="34" charset="0"/>
            </a:endParaRPr>
          </a:p>
          <a:p>
            <a:pPr algn="ctr"/>
            <a:r>
              <a:rPr lang="en-IN" dirty="0">
                <a:latin typeface="Helvetica" pitchFamily="2" charset="0"/>
                <a:ea typeface="Verdana" panose="020B0604030504040204" pitchFamily="34" charset="0"/>
              </a:rPr>
              <a:t>by Arnav Bangaria</a:t>
            </a:r>
          </a:p>
        </p:txBody>
      </p:sp>
      <p:sp>
        <p:nvSpPr>
          <p:cNvPr id="2" name="Rectangle 1">
            <a:extLst>
              <a:ext uri="{FF2B5EF4-FFF2-40B4-BE49-F238E27FC236}">
                <a16:creationId xmlns:a16="http://schemas.microsoft.com/office/drawing/2014/main" id="{D3D10404-D0E2-A547-B5D3-B79A6A60B898}"/>
              </a:ext>
            </a:extLst>
          </p:cNvPr>
          <p:cNvSpPr/>
          <p:nvPr/>
        </p:nvSpPr>
        <p:spPr>
          <a:xfrm>
            <a:off x="0" y="0"/>
            <a:ext cx="4572000" cy="6858000"/>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3"/>
              </a:solidFill>
            </a:endParaRPr>
          </a:p>
        </p:txBody>
      </p:sp>
    </p:spTree>
    <p:extLst>
      <p:ext uri="{BB962C8B-B14F-4D97-AF65-F5344CB8AC3E}">
        <p14:creationId xmlns:p14="http://schemas.microsoft.com/office/powerpoint/2010/main" val="591182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D31812-9BF6-7FC8-A7DD-200AC574FB7D}"/>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PROBLEM STATEMENT</a:t>
            </a:r>
            <a:endParaRPr lang="en-IN" sz="3200" b="1" dirty="0">
              <a:solidFill>
                <a:schemeClr val="bg1"/>
              </a:solidFill>
            </a:endParaRPr>
          </a:p>
        </p:txBody>
      </p:sp>
      <p:sp>
        <p:nvSpPr>
          <p:cNvPr id="4" name="TextBox 3">
            <a:extLst>
              <a:ext uri="{FF2B5EF4-FFF2-40B4-BE49-F238E27FC236}">
                <a16:creationId xmlns:a16="http://schemas.microsoft.com/office/drawing/2014/main" id="{1AF7C0AB-0B6C-B960-8F74-ACA725FDD8F1}"/>
              </a:ext>
            </a:extLst>
          </p:cNvPr>
          <p:cNvSpPr txBox="1"/>
          <p:nvPr/>
        </p:nvSpPr>
        <p:spPr>
          <a:xfrm>
            <a:off x="1053662" y="2951946"/>
            <a:ext cx="10084676" cy="954107"/>
          </a:xfrm>
          <a:prstGeom prst="rect">
            <a:avLst/>
          </a:prstGeom>
          <a:noFill/>
        </p:spPr>
        <p:txBody>
          <a:bodyPr wrap="square" anchor="ctr">
            <a:spAutoFit/>
          </a:bodyPr>
          <a:lstStyle/>
          <a:p>
            <a:pPr algn="ctr"/>
            <a:r>
              <a:rPr lang="en-US" sz="2800" dirty="0">
                <a:solidFill>
                  <a:schemeClr val="accent1">
                    <a:lumMod val="75000"/>
                  </a:schemeClr>
                </a:solidFill>
                <a:latin typeface="Helvetica" pitchFamily="2" charset="0"/>
                <a:ea typeface="Verdana" panose="020B0604030504040204" pitchFamily="34" charset="0"/>
              </a:rPr>
              <a:t>The bank aims to reduce customer churn, improve service delivery, and enhance customer satisfaction. </a:t>
            </a:r>
            <a:endParaRPr lang="en-IN" sz="2800" dirty="0">
              <a:solidFill>
                <a:schemeClr val="accent1">
                  <a:lumMod val="75000"/>
                </a:schemeClr>
              </a:solidFill>
              <a:latin typeface="Helvetica" pitchFamily="2" charset="0"/>
              <a:ea typeface="Verdana" panose="020B0604030504040204" pitchFamily="34" charset="0"/>
            </a:endParaRPr>
          </a:p>
        </p:txBody>
      </p:sp>
    </p:spTree>
    <p:extLst>
      <p:ext uri="{BB962C8B-B14F-4D97-AF65-F5344CB8AC3E}">
        <p14:creationId xmlns:p14="http://schemas.microsoft.com/office/powerpoint/2010/main" val="2166509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464B0-0FD3-C6AE-50E1-40393BC81C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AE20CF-581D-02DC-9A60-96B1B49A1CF6}"/>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DATA OVERVIEW</a:t>
            </a:r>
            <a:endParaRPr lang="en-IN" sz="3200" b="1" dirty="0">
              <a:solidFill>
                <a:schemeClr val="bg1"/>
              </a:solidFill>
            </a:endParaRPr>
          </a:p>
        </p:txBody>
      </p:sp>
      <p:cxnSp>
        <p:nvCxnSpPr>
          <p:cNvPr id="7" name="Straight Connector 6">
            <a:extLst>
              <a:ext uri="{FF2B5EF4-FFF2-40B4-BE49-F238E27FC236}">
                <a16:creationId xmlns:a16="http://schemas.microsoft.com/office/drawing/2014/main" id="{CD1A81F6-08FB-11E7-32B9-7684089C794C}"/>
              </a:ext>
            </a:extLst>
          </p:cNvPr>
          <p:cNvCxnSpPr>
            <a:cxnSpLocks/>
          </p:cNvCxnSpPr>
          <p:nvPr/>
        </p:nvCxnSpPr>
        <p:spPr>
          <a:xfrm>
            <a:off x="6864880" y="1851309"/>
            <a:ext cx="0" cy="3804744"/>
          </a:xfrm>
          <a:prstGeom prst="line">
            <a:avLst/>
          </a:prstGeom>
          <a:ln w="28575">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DF614500-4533-25E3-F85D-6BC37B5080CB}"/>
              </a:ext>
            </a:extLst>
          </p:cNvPr>
          <p:cNvSpPr txBox="1"/>
          <p:nvPr/>
        </p:nvSpPr>
        <p:spPr>
          <a:xfrm>
            <a:off x="7315200" y="2068123"/>
            <a:ext cx="4690861" cy="3371116"/>
          </a:xfrm>
          <a:prstGeom prst="rect">
            <a:avLst/>
          </a:prstGeom>
          <a:noFill/>
        </p:spPr>
        <p:txBody>
          <a:bodyPr wrap="square">
            <a:spAutoFit/>
          </a:bodyPr>
          <a:lstStyle/>
          <a:p>
            <a:pPr marL="0" rtl="0" eaLnBrk="1" latinLnBrk="0" hangingPunct="1">
              <a:buNone/>
            </a:pPr>
            <a:r>
              <a:rPr lang="en-IN" sz="1600" kern="1200" dirty="0">
                <a:solidFill>
                  <a:srgbClr val="000000"/>
                </a:solidFill>
                <a:effectLst/>
                <a:latin typeface="Helvetica" pitchFamily="2" charset="0"/>
                <a:ea typeface="Verdana" panose="020B0604030504040204" pitchFamily="34" charset="0"/>
              </a:rPr>
              <a:t>There are a total of </a:t>
            </a:r>
            <a:r>
              <a:rPr lang="en-IN" sz="1600" dirty="0">
                <a:solidFill>
                  <a:srgbClr val="000000"/>
                </a:solidFill>
                <a:latin typeface="Helvetica" pitchFamily="2" charset="0"/>
                <a:ea typeface="Verdana" panose="020B0604030504040204" pitchFamily="34" charset="0"/>
              </a:rPr>
              <a:t>7</a:t>
            </a:r>
            <a:r>
              <a:rPr lang="en-IN" sz="1600" kern="1200" dirty="0">
                <a:solidFill>
                  <a:srgbClr val="000000"/>
                </a:solidFill>
                <a:effectLst/>
                <a:latin typeface="Helvetica" pitchFamily="2" charset="0"/>
                <a:ea typeface="Verdana" panose="020B0604030504040204" pitchFamily="34" charset="0"/>
              </a:rPr>
              <a:t> tables in the dataset, wh</a:t>
            </a:r>
            <a:r>
              <a:rPr lang="en-IN" sz="1600" dirty="0">
                <a:solidFill>
                  <a:srgbClr val="000000"/>
                </a:solidFill>
                <a:latin typeface="Helvetica" pitchFamily="2" charset="0"/>
                <a:ea typeface="Verdana" panose="020B0604030504040204" pitchFamily="34" charset="0"/>
              </a:rPr>
              <a:t>ich are renamed to make executions better</a:t>
            </a:r>
            <a:r>
              <a:rPr lang="en-IN" sz="1600" kern="1200" dirty="0">
                <a:solidFill>
                  <a:srgbClr val="000000"/>
                </a:solidFill>
                <a:effectLst/>
                <a:latin typeface="Helvetica" pitchFamily="2" charset="0"/>
                <a:ea typeface="Verdana" panose="020B0604030504040204" pitchFamily="34" charset="0"/>
              </a:rPr>
              <a:t>:</a:t>
            </a:r>
          </a:p>
          <a:p>
            <a:pPr marL="0" rtl="0" eaLnBrk="1" latinLnBrk="0" hangingPunct="1">
              <a:buNone/>
            </a:pPr>
            <a:endParaRPr lang="en-IN" sz="1600" dirty="0">
              <a:effectLst/>
              <a:latin typeface="Helvetica" pitchFamily="2" charset="0"/>
            </a:endParaRPr>
          </a:p>
          <a:p>
            <a:pPr marL="285750" indent="-285750">
              <a:lnSpc>
                <a:spcPct val="150000"/>
              </a:lnSpc>
              <a:buFont typeface="Arial" panose="020B0604020202020204" pitchFamily="34" charset="0"/>
              <a:buChar char="•"/>
            </a:pPr>
            <a:r>
              <a:rPr lang="en-IN" sz="1600" dirty="0" err="1">
                <a:effectLst/>
                <a:latin typeface="Helvetica" pitchFamily="2" charset="0"/>
              </a:rPr>
              <a:t>Active</a:t>
            </a:r>
            <a:r>
              <a:rPr lang="en-IN" sz="1600" dirty="0" err="1">
                <a:latin typeface="Helvetica" pitchFamily="2" charset="0"/>
              </a:rPr>
              <a:t>Customer</a:t>
            </a:r>
            <a:r>
              <a:rPr lang="en-IN" sz="1600" dirty="0">
                <a:latin typeface="Helvetica" pitchFamily="2" charset="0"/>
              </a:rPr>
              <a:t> ⇒ </a:t>
            </a:r>
            <a:r>
              <a:rPr lang="en-IN" sz="1600" dirty="0" err="1">
                <a:latin typeface="Helvetica" pitchFamily="2" charset="0"/>
              </a:rPr>
              <a:t>customer_category</a:t>
            </a:r>
            <a:endParaRPr lang="en-IN" sz="1600" dirty="0">
              <a:latin typeface="Helvetica" pitchFamily="2" charset="0"/>
            </a:endParaRPr>
          </a:p>
          <a:p>
            <a:pPr marL="285750" indent="-285750">
              <a:lnSpc>
                <a:spcPct val="150000"/>
              </a:lnSpc>
              <a:buFont typeface="Arial" panose="020B0604020202020204" pitchFamily="34" charset="0"/>
              <a:buChar char="•"/>
            </a:pPr>
            <a:r>
              <a:rPr lang="en-IN" sz="1600" dirty="0" err="1">
                <a:effectLst/>
                <a:latin typeface="Helvetica" pitchFamily="2" charset="0"/>
              </a:rPr>
              <a:t>Bank</a:t>
            </a:r>
            <a:r>
              <a:rPr lang="en-IN" sz="1600" dirty="0" err="1">
                <a:latin typeface="Helvetica" pitchFamily="2" charset="0"/>
              </a:rPr>
              <a:t>_Churn</a:t>
            </a:r>
            <a:r>
              <a:rPr lang="en-IN" sz="1600" dirty="0">
                <a:latin typeface="Helvetica" pitchFamily="2" charset="0"/>
              </a:rPr>
              <a:t> ⇒ </a:t>
            </a:r>
            <a:r>
              <a:rPr lang="en-IN" sz="1600" dirty="0" err="1">
                <a:latin typeface="Helvetica" pitchFamily="2" charset="0"/>
              </a:rPr>
              <a:t>bank_churn</a:t>
            </a:r>
            <a:endParaRPr lang="en-IN" sz="1600" dirty="0">
              <a:latin typeface="Helvetica" pitchFamily="2" charset="0"/>
            </a:endParaRPr>
          </a:p>
          <a:p>
            <a:pPr marL="285750" indent="-285750">
              <a:lnSpc>
                <a:spcPct val="150000"/>
              </a:lnSpc>
              <a:buFont typeface="Arial" panose="020B0604020202020204" pitchFamily="34" charset="0"/>
              <a:buChar char="•"/>
            </a:pPr>
            <a:r>
              <a:rPr lang="en-IN" sz="1600" dirty="0" err="1">
                <a:effectLst/>
                <a:latin typeface="Helvetica" pitchFamily="2" charset="0"/>
              </a:rPr>
              <a:t>CreditCard</a:t>
            </a:r>
            <a:r>
              <a:rPr lang="en-IN" sz="1600" dirty="0">
                <a:effectLst/>
                <a:latin typeface="Helvetica" pitchFamily="2" charset="0"/>
              </a:rPr>
              <a:t> </a:t>
            </a:r>
            <a:r>
              <a:rPr lang="en-IN" sz="1600" dirty="0">
                <a:latin typeface="Helvetica" pitchFamily="2" charset="0"/>
              </a:rPr>
              <a:t>⇒ </a:t>
            </a:r>
            <a:r>
              <a:rPr lang="en-IN" sz="1600" dirty="0" err="1">
                <a:latin typeface="Helvetica" pitchFamily="2" charset="0"/>
              </a:rPr>
              <a:t>credit_category</a:t>
            </a:r>
            <a:endParaRPr lang="en-IN" sz="1600" dirty="0">
              <a:latin typeface="Helvetica" pitchFamily="2" charset="0"/>
            </a:endParaRPr>
          </a:p>
          <a:p>
            <a:pPr marL="285750" indent="-285750">
              <a:lnSpc>
                <a:spcPct val="150000"/>
              </a:lnSpc>
              <a:buFont typeface="Arial" panose="020B0604020202020204" pitchFamily="34" charset="0"/>
              <a:buChar char="•"/>
            </a:pPr>
            <a:r>
              <a:rPr lang="en-IN" sz="1600" dirty="0" err="1">
                <a:effectLst/>
                <a:latin typeface="Helvetica" pitchFamily="2" charset="0"/>
              </a:rPr>
              <a:t>CustomerInfo</a:t>
            </a:r>
            <a:r>
              <a:rPr lang="en-IN" sz="1600" dirty="0">
                <a:latin typeface="Helvetica" pitchFamily="2" charset="0"/>
              </a:rPr>
              <a:t> ⇒ </a:t>
            </a:r>
            <a:r>
              <a:rPr lang="en-IN" sz="1600" dirty="0" err="1">
                <a:latin typeface="Helvetica" pitchFamily="2" charset="0"/>
              </a:rPr>
              <a:t>customer_detail</a:t>
            </a:r>
            <a:endParaRPr lang="en-IN" sz="1600" dirty="0">
              <a:latin typeface="Helvetica" pitchFamily="2" charset="0"/>
            </a:endParaRPr>
          </a:p>
          <a:p>
            <a:pPr marL="285750" indent="-285750">
              <a:lnSpc>
                <a:spcPct val="150000"/>
              </a:lnSpc>
              <a:buFont typeface="Arial" panose="020B0604020202020204" pitchFamily="34" charset="0"/>
              <a:buChar char="•"/>
            </a:pPr>
            <a:r>
              <a:rPr lang="en-IN" sz="1600" dirty="0" err="1">
                <a:effectLst/>
                <a:latin typeface="Helvetica" pitchFamily="2" charset="0"/>
              </a:rPr>
              <a:t>ExitCustomer</a:t>
            </a:r>
            <a:r>
              <a:rPr lang="en-IN" sz="1600" dirty="0">
                <a:effectLst/>
                <a:latin typeface="Helvetica" pitchFamily="2" charset="0"/>
              </a:rPr>
              <a:t> </a:t>
            </a:r>
            <a:r>
              <a:rPr lang="en-IN" sz="1600" dirty="0">
                <a:latin typeface="Helvetica" pitchFamily="2" charset="0"/>
              </a:rPr>
              <a:t>⇒ </a:t>
            </a:r>
            <a:r>
              <a:rPr lang="en-IN" sz="1600" dirty="0" err="1">
                <a:latin typeface="Helvetica" pitchFamily="2" charset="0"/>
              </a:rPr>
              <a:t>churn_detail</a:t>
            </a:r>
            <a:endParaRPr lang="en-IN" sz="1600" dirty="0">
              <a:latin typeface="Helvetica" pitchFamily="2" charset="0"/>
            </a:endParaRPr>
          </a:p>
          <a:p>
            <a:pPr marL="285750" indent="-285750">
              <a:lnSpc>
                <a:spcPct val="150000"/>
              </a:lnSpc>
              <a:buFont typeface="Arial" panose="020B0604020202020204" pitchFamily="34" charset="0"/>
              <a:buChar char="•"/>
            </a:pPr>
            <a:r>
              <a:rPr lang="en-IN" sz="1600" dirty="0">
                <a:effectLst/>
                <a:latin typeface="Helvetica" pitchFamily="2" charset="0"/>
              </a:rPr>
              <a:t>Gender </a:t>
            </a:r>
            <a:r>
              <a:rPr lang="en-IN" sz="1600" dirty="0">
                <a:latin typeface="Helvetica" pitchFamily="2" charset="0"/>
              </a:rPr>
              <a:t>⇒ gender</a:t>
            </a:r>
          </a:p>
          <a:p>
            <a:pPr marL="285750" indent="-285750">
              <a:lnSpc>
                <a:spcPct val="150000"/>
              </a:lnSpc>
              <a:buFont typeface="Arial" panose="020B0604020202020204" pitchFamily="34" charset="0"/>
              <a:buChar char="•"/>
            </a:pPr>
            <a:r>
              <a:rPr lang="en-IN" sz="1600" dirty="0">
                <a:effectLst/>
                <a:latin typeface="Helvetica" pitchFamily="2" charset="0"/>
              </a:rPr>
              <a:t>Geography </a:t>
            </a:r>
            <a:r>
              <a:rPr lang="en-IN" sz="1600" dirty="0">
                <a:latin typeface="Helvetica" pitchFamily="2" charset="0"/>
              </a:rPr>
              <a:t>⇒ geography</a:t>
            </a:r>
            <a:endParaRPr lang="en-IN" sz="1600" dirty="0">
              <a:effectLst/>
              <a:latin typeface="Helvetica" pitchFamily="2" charset="0"/>
            </a:endParaRPr>
          </a:p>
        </p:txBody>
      </p:sp>
      <p:pic>
        <p:nvPicPr>
          <p:cNvPr id="4" name="Picture 3">
            <a:extLst>
              <a:ext uri="{FF2B5EF4-FFF2-40B4-BE49-F238E27FC236}">
                <a16:creationId xmlns:a16="http://schemas.microsoft.com/office/drawing/2014/main" id="{517143FC-241C-E4D1-663D-73DCE690F5D0}"/>
              </a:ext>
            </a:extLst>
          </p:cNvPr>
          <p:cNvPicPr>
            <a:picLocks noChangeAspect="1"/>
          </p:cNvPicPr>
          <p:nvPr/>
        </p:nvPicPr>
        <p:blipFill>
          <a:blip r:embed="rId2"/>
          <a:stretch>
            <a:fillRect/>
          </a:stretch>
        </p:blipFill>
        <p:spPr>
          <a:xfrm>
            <a:off x="185939" y="1635103"/>
            <a:ext cx="6553682" cy="4237156"/>
          </a:xfrm>
          <a:prstGeom prst="rect">
            <a:avLst/>
          </a:prstGeom>
        </p:spPr>
      </p:pic>
    </p:spTree>
    <p:extLst>
      <p:ext uri="{BB962C8B-B14F-4D97-AF65-F5344CB8AC3E}">
        <p14:creationId xmlns:p14="http://schemas.microsoft.com/office/powerpoint/2010/main" val="2140116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586EE-C970-6E47-AC80-9B76A02942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299AEE-2562-515C-03AD-6019CC92B3F2}"/>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DATA OVERVIEW</a:t>
            </a:r>
            <a:endParaRPr lang="en-IN" sz="3200" b="1" dirty="0">
              <a:solidFill>
                <a:schemeClr val="bg1"/>
              </a:solidFill>
            </a:endParaRPr>
          </a:p>
        </p:txBody>
      </p:sp>
      <p:graphicFrame>
        <p:nvGraphicFramePr>
          <p:cNvPr id="4" name="Table 3">
            <a:extLst>
              <a:ext uri="{FF2B5EF4-FFF2-40B4-BE49-F238E27FC236}">
                <a16:creationId xmlns:a16="http://schemas.microsoft.com/office/drawing/2014/main" id="{F837A051-786A-2732-68F0-2ABD1BBE549D}"/>
              </a:ext>
            </a:extLst>
          </p:cNvPr>
          <p:cNvGraphicFramePr>
            <a:graphicFrameLocks noGrp="1"/>
          </p:cNvGraphicFramePr>
          <p:nvPr>
            <p:extLst>
              <p:ext uri="{D42A27DB-BD31-4B8C-83A1-F6EECF244321}">
                <p14:modId xmlns:p14="http://schemas.microsoft.com/office/powerpoint/2010/main" val="3488557207"/>
              </p:ext>
            </p:extLst>
          </p:nvPr>
        </p:nvGraphicFramePr>
        <p:xfrm>
          <a:off x="1106215" y="1945640"/>
          <a:ext cx="9979570" cy="2966720"/>
        </p:xfrm>
        <a:graphic>
          <a:graphicData uri="http://schemas.openxmlformats.org/drawingml/2006/table">
            <a:tbl>
              <a:tblPr firstRow="1" bandRow="1">
                <a:tableStyleId>{8A107856-5554-42FB-B03E-39F5DBC370BA}</a:tableStyleId>
              </a:tblPr>
              <a:tblGrid>
                <a:gridCol w="625365">
                  <a:extLst>
                    <a:ext uri="{9D8B030D-6E8A-4147-A177-3AD203B41FA5}">
                      <a16:colId xmlns:a16="http://schemas.microsoft.com/office/drawing/2014/main" val="3875561550"/>
                    </a:ext>
                  </a:extLst>
                </a:gridCol>
                <a:gridCol w="1755227">
                  <a:extLst>
                    <a:ext uri="{9D8B030D-6E8A-4147-A177-3AD203B41FA5}">
                      <a16:colId xmlns:a16="http://schemas.microsoft.com/office/drawing/2014/main" val="1460808079"/>
                    </a:ext>
                  </a:extLst>
                </a:gridCol>
                <a:gridCol w="1786759">
                  <a:extLst>
                    <a:ext uri="{9D8B030D-6E8A-4147-A177-3AD203B41FA5}">
                      <a16:colId xmlns:a16="http://schemas.microsoft.com/office/drawing/2014/main" val="3391523469"/>
                    </a:ext>
                  </a:extLst>
                </a:gridCol>
                <a:gridCol w="5812219">
                  <a:extLst>
                    <a:ext uri="{9D8B030D-6E8A-4147-A177-3AD203B41FA5}">
                      <a16:colId xmlns:a16="http://schemas.microsoft.com/office/drawing/2014/main" val="2734158051"/>
                    </a:ext>
                  </a:extLst>
                </a:gridCol>
              </a:tblGrid>
              <a:tr h="370840">
                <a:tc>
                  <a:txBody>
                    <a:bodyPr/>
                    <a:lstStyle/>
                    <a:p>
                      <a:pPr algn="ctr">
                        <a:buNone/>
                      </a:pPr>
                      <a:r>
                        <a:rPr lang="en-IN" sz="1400" dirty="0" err="1">
                          <a:solidFill>
                            <a:schemeClr val="bg1"/>
                          </a:solidFill>
                          <a:latin typeface="Helvetica" pitchFamily="2" charset="0"/>
                        </a:rPr>
                        <a:t>S.No</a:t>
                      </a:r>
                      <a:endParaRPr lang="en-IN" sz="1400" dirty="0">
                        <a:solidFill>
                          <a:schemeClr val="bg1"/>
                        </a:solidFill>
                        <a:latin typeface="Helvetica" pitchFamily="2" charset="0"/>
                      </a:endParaRPr>
                    </a:p>
                  </a:txBody>
                  <a:tcPr anchor="ctr">
                    <a:solidFill>
                      <a:schemeClr val="accent2"/>
                    </a:solidFill>
                  </a:tcPr>
                </a:tc>
                <a:tc>
                  <a:txBody>
                    <a:bodyPr/>
                    <a:lstStyle/>
                    <a:p>
                      <a:pPr algn="ctr">
                        <a:buNone/>
                      </a:pPr>
                      <a:r>
                        <a:rPr lang="en-IN" sz="1400" dirty="0">
                          <a:solidFill>
                            <a:schemeClr val="bg1"/>
                          </a:solidFill>
                          <a:latin typeface="Helvetica" pitchFamily="2" charset="0"/>
                        </a:rPr>
                        <a:t>Table Name</a:t>
                      </a:r>
                    </a:p>
                  </a:txBody>
                  <a:tcPr anchor="ctr">
                    <a:solidFill>
                      <a:schemeClr val="accent2"/>
                    </a:solidFill>
                  </a:tcPr>
                </a:tc>
                <a:tc>
                  <a:txBody>
                    <a:bodyPr/>
                    <a:lstStyle/>
                    <a:p>
                      <a:pPr algn="ctr">
                        <a:buNone/>
                      </a:pPr>
                      <a:r>
                        <a:rPr lang="en-IN" sz="1400">
                          <a:solidFill>
                            <a:schemeClr val="bg1"/>
                          </a:solidFill>
                          <a:latin typeface="Helvetica" pitchFamily="2" charset="0"/>
                        </a:rPr>
                        <a:t>No. of Attributes</a:t>
                      </a:r>
                    </a:p>
                  </a:txBody>
                  <a:tcPr anchor="ctr">
                    <a:solidFill>
                      <a:schemeClr val="accent2"/>
                    </a:solidFill>
                  </a:tcPr>
                </a:tc>
                <a:tc>
                  <a:txBody>
                    <a:bodyPr/>
                    <a:lstStyle/>
                    <a:p>
                      <a:pPr algn="ctr">
                        <a:buNone/>
                      </a:pPr>
                      <a:r>
                        <a:rPr lang="en-IN" sz="1400" dirty="0">
                          <a:solidFill>
                            <a:schemeClr val="bg1"/>
                          </a:solidFill>
                          <a:latin typeface="Helvetica" pitchFamily="2" charset="0"/>
                        </a:rPr>
                        <a:t>Categorical / Continuous Count</a:t>
                      </a:r>
                    </a:p>
                  </a:txBody>
                  <a:tcPr anchor="ctr">
                    <a:solidFill>
                      <a:schemeClr val="accent2"/>
                    </a:solidFill>
                  </a:tcPr>
                </a:tc>
                <a:extLst>
                  <a:ext uri="{0D108BD9-81ED-4DB2-BD59-A6C34878D82A}">
                    <a16:rowId xmlns:a16="http://schemas.microsoft.com/office/drawing/2014/main" val="2227104170"/>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1</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dirty="0" err="1">
                          <a:solidFill>
                            <a:schemeClr val="dk1"/>
                          </a:solidFill>
                          <a:latin typeface="Helvetica" pitchFamily="2" charset="0"/>
                          <a:ea typeface="+mn-ea"/>
                          <a:cs typeface="+mn-cs"/>
                        </a:rPr>
                        <a:t>customer_detail</a:t>
                      </a:r>
                      <a:endParaRPr lang="en-IN" sz="1400" kern="1200" dirty="0">
                        <a:solidFill>
                          <a:schemeClr val="dk1"/>
                        </a:solidFill>
                        <a:latin typeface="Helvetica" pitchFamily="2" charset="0"/>
                        <a:ea typeface="+mn-ea"/>
                        <a:cs typeface="+mn-cs"/>
                      </a:endParaRP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6</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3 Categorical, 2 Continuous, 1 Date</a:t>
                      </a:r>
                    </a:p>
                  </a:txBody>
                  <a:tcPr marL="9525" marR="9525" marT="9525" marB="9525" anchor="ctr"/>
                </a:tc>
                <a:extLst>
                  <a:ext uri="{0D108BD9-81ED-4DB2-BD59-A6C34878D82A}">
                    <a16:rowId xmlns:a16="http://schemas.microsoft.com/office/drawing/2014/main" val="187289419"/>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geography</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2</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 Categorical</a:t>
                      </a:r>
                    </a:p>
                  </a:txBody>
                  <a:tcPr marL="9525" marR="9525" marT="9525" marB="9525" anchor="ctr"/>
                </a:tc>
                <a:extLst>
                  <a:ext uri="{0D108BD9-81ED-4DB2-BD59-A6C34878D82A}">
                    <a16:rowId xmlns:a16="http://schemas.microsoft.com/office/drawing/2014/main" val="3738242983"/>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3</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gender</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2 Categorical</a:t>
                      </a:r>
                    </a:p>
                  </a:txBody>
                  <a:tcPr marL="9525" marR="9525" marT="9525" marB="9525" anchor="ctr"/>
                </a:tc>
                <a:extLst>
                  <a:ext uri="{0D108BD9-81ED-4DB2-BD59-A6C34878D82A}">
                    <a16:rowId xmlns:a16="http://schemas.microsoft.com/office/drawing/2014/main" val="3286186776"/>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4</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credit_category</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2 Categorical</a:t>
                      </a:r>
                    </a:p>
                  </a:txBody>
                  <a:tcPr marL="9525" marR="9525" marT="9525" marB="9525" anchor="ctr"/>
                </a:tc>
                <a:extLst>
                  <a:ext uri="{0D108BD9-81ED-4DB2-BD59-A6C34878D82A}">
                    <a16:rowId xmlns:a16="http://schemas.microsoft.com/office/drawing/2014/main" val="4087531757"/>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5</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customer_category</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2 Categorical</a:t>
                      </a:r>
                    </a:p>
                  </a:txBody>
                  <a:tcPr marL="9525" marR="9525" marT="9525" marB="9525" anchor="ctr"/>
                </a:tc>
                <a:extLst>
                  <a:ext uri="{0D108BD9-81ED-4DB2-BD59-A6C34878D82A}">
                    <a16:rowId xmlns:a16="http://schemas.microsoft.com/office/drawing/2014/main" val="1622285207"/>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6</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churn_detail</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2 Categorical</a:t>
                      </a:r>
                    </a:p>
                  </a:txBody>
                  <a:tcPr marL="9525" marR="9525" marT="9525" marB="9525" anchor="ctr"/>
                </a:tc>
                <a:extLst>
                  <a:ext uri="{0D108BD9-81ED-4DB2-BD59-A6C34878D82A}">
                    <a16:rowId xmlns:a16="http://schemas.microsoft.com/office/drawing/2014/main" val="1413254099"/>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7</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dirty="0" err="1">
                          <a:solidFill>
                            <a:schemeClr val="dk1"/>
                          </a:solidFill>
                          <a:latin typeface="Helvetica" pitchFamily="2" charset="0"/>
                          <a:ea typeface="+mn-ea"/>
                          <a:cs typeface="+mn-cs"/>
                        </a:rPr>
                        <a:t>bank_churn</a:t>
                      </a:r>
                      <a:endParaRPr lang="en-IN" sz="1400" kern="1200" dirty="0">
                        <a:solidFill>
                          <a:schemeClr val="dk1"/>
                        </a:solidFill>
                        <a:latin typeface="Helvetica" pitchFamily="2" charset="0"/>
                        <a:ea typeface="+mn-ea"/>
                        <a:cs typeface="+mn-cs"/>
                      </a:endParaRP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8</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5 Categorical, 3 Continuous</a:t>
                      </a:r>
                    </a:p>
                  </a:txBody>
                  <a:tcPr marL="9525" marR="9525" marT="9525" marB="9525" anchor="ctr"/>
                </a:tc>
                <a:extLst>
                  <a:ext uri="{0D108BD9-81ED-4DB2-BD59-A6C34878D82A}">
                    <a16:rowId xmlns:a16="http://schemas.microsoft.com/office/drawing/2014/main" val="2454961114"/>
                  </a:ext>
                </a:extLst>
              </a:tr>
            </a:tbl>
          </a:graphicData>
        </a:graphic>
      </p:graphicFrame>
    </p:spTree>
    <p:extLst>
      <p:ext uri="{BB962C8B-B14F-4D97-AF65-F5344CB8AC3E}">
        <p14:creationId xmlns:p14="http://schemas.microsoft.com/office/powerpoint/2010/main" val="1997818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1E8A37-E308-2DA2-4996-A53D710D19D5}"/>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METHODOLOGY</a:t>
            </a:r>
            <a:endParaRPr lang="en-IN" sz="3200" b="1" dirty="0">
              <a:solidFill>
                <a:schemeClr val="bg1"/>
              </a:solidFill>
            </a:endParaRPr>
          </a:p>
        </p:txBody>
      </p:sp>
      <p:sp>
        <p:nvSpPr>
          <p:cNvPr id="4" name="TextBox 3">
            <a:extLst>
              <a:ext uri="{FF2B5EF4-FFF2-40B4-BE49-F238E27FC236}">
                <a16:creationId xmlns:a16="http://schemas.microsoft.com/office/drawing/2014/main" id="{40F6E337-8A44-0161-7C2B-94D9601B7DC3}"/>
              </a:ext>
            </a:extLst>
          </p:cNvPr>
          <p:cNvSpPr txBox="1"/>
          <p:nvPr/>
        </p:nvSpPr>
        <p:spPr>
          <a:xfrm>
            <a:off x="541282" y="1166842"/>
            <a:ext cx="11109435" cy="4524315"/>
          </a:xfrm>
          <a:prstGeom prst="rect">
            <a:avLst/>
          </a:prstGeom>
          <a:noFill/>
        </p:spPr>
        <p:txBody>
          <a:bodyPr wrap="square">
            <a:spAutoFit/>
          </a:bodyPr>
          <a:lstStyle/>
          <a:p>
            <a:pPr marL="342900" indent="-342900">
              <a:buFont typeface="+mj-lt"/>
              <a:buAutoNum type="alphaUcPeriod"/>
            </a:pPr>
            <a:r>
              <a:rPr lang="en-IN" sz="1600" b="1" dirty="0">
                <a:latin typeface="Helvetica" pitchFamily="2" charset="0"/>
              </a:rPr>
              <a:t>DATA CLEANING AND STRUCTURING</a:t>
            </a:r>
          </a:p>
          <a:p>
            <a:pPr marL="800100" lvl="1" indent="-342900">
              <a:buFont typeface="Arial" panose="020B0604020202020204" pitchFamily="34" charset="0"/>
              <a:buChar char="•"/>
            </a:pPr>
            <a:r>
              <a:rPr lang="en-IN" sz="1600" dirty="0">
                <a:latin typeface="Helvetica" pitchFamily="2" charset="0"/>
              </a:rPr>
              <a:t>Using Excel to remove duplicity or inconsistency within data and formatting all the columns into the right data format to make it seamless to import or connect with the Power BI Desktop</a:t>
            </a:r>
          </a:p>
          <a:p>
            <a:pPr marL="800100" lvl="1" indent="-342900">
              <a:buFont typeface="Arial" panose="020B0604020202020204" pitchFamily="34" charset="0"/>
              <a:buChar char="•"/>
            </a:pPr>
            <a:r>
              <a:rPr lang="en-IN" sz="1600" dirty="0">
                <a:latin typeface="Helvetica" pitchFamily="2" charset="0"/>
              </a:rPr>
              <a:t>Using SQL to build relationships, understand data, and derive some meaningful insights that will help in decision-making</a:t>
            </a:r>
          </a:p>
          <a:p>
            <a:pPr marL="800100" lvl="1" indent="-342900">
              <a:buFont typeface="Arial" panose="020B0604020202020204" pitchFamily="34" charset="0"/>
              <a:buChar char="•"/>
            </a:pPr>
            <a:r>
              <a:rPr lang="en-IN" sz="1600" dirty="0">
                <a:latin typeface="Helvetica" pitchFamily="2" charset="0"/>
              </a:rPr>
              <a:t>Using Power BI to generate reports and a KPIs dashboard through models, visualizations, measures, and slicers to assist strategy building for the bank </a:t>
            </a:r>
          </a:p>
          <a:p>
            <a:pPr marL="800100" lvl="1" indent="-342900">
              <a:buFont typeface="Arial" panose="020B0604020202020204" pitchFamily="34" charset="0"/>
              <a:buChar char="•"/>
            </a:pPr>
            <a:endParaRPr lang="en-IN" sz="1600" dirty="0">
              <a:latin typeface="Helvetica" pitchFamily="2" charset="0"/>
            </a:endParaRPr>
          </a:p>
          <a:p>
            <a:pPr marL="342900" indent="-342900">
              <a:buFont typeface="+mj-lt"/>
              <a:buAutoNum type="alphaUcPeriod"/>
            </a:pPr>
            <a:r>
              <a:rPr lang="en-IN" sz="1600" b="1" dirty="0">
                <a:latin typeface="Helvetica" pitchFamily="2" charset="0"/>
              </a:rPr>
              <a:t>DATA MANIPULATION</a:t>
            </a:r>
          </a:p>
          <a:p>
            <a:pPr marL="800100" lvl="1" indent="-342900">
              <a:buFont typeface="Arial" panose="020B0604020202020204" pitchFamily="34" charset="0"/>
              <a:buChar char="•"/>
            </a:pPr>
            <a:r>
              <a:rPr lang="en-IN" sz="1600" dirty="0">
                <a:latin typeface="Helvetica" pitchFamily="2" charset="0"/>
              </a:rPr>
              <a:t>Removing inconsistencies and duplicates from the data, table by table, to maintain consistency </a:t>
            </a:r>
          </a:p>
          <a:p>
            <a:pPr marL="800100" lvl="1" indent="-342900">
              <a:buFont typeface="Arial" panose="020B0604020202020204" pitchFamily="34" charset="0"/>
              <a:buChar char="•"/>
            </a:pPr>
            <a:endParaRPr lang="en-IN" sz="1600" dirty="0">
              <a:latin typeface="Helvetica" pitchFamily="2" charset="0"/>
            </a:endParaRPr>
          </a:p>
          <a:p>
            <a:pPr marL="342900" indent="-342900">
              <a:buFont typeface="+mj-lt"/>
              <a:buAutoNum type="alphaUcPeriod"/>
            </a:pPr>
            <a:r>
              <a:rPr lang="en-IN" sz="1600" b="1" dirty="0">
                <a:latin typeface="Helvetica" pitchFamily="2" charset="0"/>
              </a:rPr>
              <a:t>DATA ANALYSIS </a:t>
            </a:r>
          </a:p>
          <a:p>
            <a:pPr marL="800100" lvl="1" indent="-342900">
              <a:buFont typeface="Arial" panose="020B0604020202020204" pitchFamily="34" charset="0"/>
              <a:buChar char="•"/>
            </a:pPr>
            <a:r>
              <a:rPr lang="en-IN" sz="1600" dirty="0">
                <a:latin typeface="Helvetica" pitchFamily="2" charset="0"/>
              </a:rPr>
              <a:t>Customer Behaviour Analysis to map how our customer behaves and what the frictions and accelerators are</a:t>
            </a:r>
          </a:p>
          <a:p>
            <a:pPr marL="800100" lvl="1" indent="-342900">
              <a:buFont typeface="Arial" panose="020B0604020202020204" pitchFamily="34" charset="0"/>
              <a:buChar char="•"/>
            </a:pPr>
            <a:r>
              <a:rPr lang="en-IN" sz="1600" dirty="0">
                <a:latin typeface="Helvetica" pitchFamily="2" charset="0"/>
              </a:rPr>
              <a:t>Demographical Analysis to segregate groups that have low performance and high churn</a:t>
            </a:r>
          </a:p>
          <a:p>
            <a:pPr marL="800100" lvl="1" indent="-342900">
              <a:buFont typeface="Arial" panose="020B0604020202020204" pitchFamily="34" charset="0"/>
              <a:buChar char="•"/>
            </a:pPr>
            <a:r>
              <a:rPr lang="en-IN" sz="1600" dirty="0">
                <a:latin typeface="Helvetica" pitchFamily="2" charset="0"/>
              </a:rPr>
              <a:t> Time series Analysis to detect any joining or leaving pattern of risky customers</a:t>
            </a:r>
          </a:p>
          <a:p>
            <a:pPr marL="800100" lvl="1" indent="-342900">
              <a:buFont typeface="Arial" panose="020B0604020202020204" pitchFamily="34" charset="0"/>
              <a:buChar char="•"/>
            </a:pPr>
            <a:endParaRPr lang="en-IN" sz="1600" dirty="0">
              <a:latin typeface="Helvetica" pitchFamily="2" charset="0"/>
            </a:endParaRPr>
          </a:p>
          <a:p>
            <a:pPr marL="342900" indent="-342900">
              <a:buFont typeface="+mj-lt"/>
              <a:buAutoNum type="alphaUcPeriod"/>
            </a:pPr>
            <a:r>
              <a:rPr lang="en-IN" sz="1600" b="1" dirty="0">
                <a:latin typeface="Helvetica" pitchFamily="2" charset="0"/>
              </a:rPr>
              <a:t>VISUALIZATIONS</a:t>
            </a:r>
          </a:p>
          <a:p>
            <a:pPr marL="800100" lvl="1" indent="-342900">
              <a:buFont typeface="Arial" panose="020B0604020202020204" pitchFamily="34" charset="0"/>
              <a:buChar char="•"/>
            </a:pPr>
            <a:r>
              <a:rPr lang="en-IN" sz="1600" dirty="0">
                <a:latin typeface="Helvetica" pitchFamily="2" charset="0"/>
              </a:rPr>
              <a:t>Developing a KPI Dashboard to summarize individual analysis findings</a:t>
            </a:r>
          </a:p>
        </p:txBody>
      </p:sp>
    </p:spTree>
    <p:extLst>
      <p:ext uri="{BB962C8B-B14F-4D97-AF65-F5344CB8AC3E}">
        <p14:creationId xmlns:p14="http://schemas.microsoft.com/office/powerpoint/2010/main" val="2963197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07F20-C30B-4817-E261-6A3ED3B403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045ED1-CA04-0013-C050-E4929684CA21}"/>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ANALYSIS PHASE</a:t>
            </a:r>
            <a:endParaRPr lang="en-IN" sz="6000" b="1" dirty="0">
              <a:solidFill>
                <a:schemeClr val="accent2"/>
              </a:solidFill>
            </a:endParaRPr>
          </a:p>
        </p:txBody>
      </p:sp>
    </p:spTree>
    <p:extLst>
      <p:ext uri="{BB962C8B-B14F-4D97-AF65-F5344CB8AC3E}">
        <p14:creationId xmlns:p14="http://schemas.microsoft.com/office/powerpoint/2010/main" val="1042288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49788-D104-45D8-615D-A8681A65ED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9BE0BD-0E7E-F044-F45D-4575AC325F11}"/>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5273490A-B172-A633-BA86-ABF9E816DFBF}"/>
              </a:ext>
            </a:extLst>
          </p:cNvPr>
          <p:cNvSpPr txBox="1"/>
          <p:nvPr/>
        </p:nvSpPr>
        <p:spPr>
          <a:xfrm>
            <a:off x="1037518" y="5183871"/>
            <a:ext cx="10116962" cy="646331"/>
          </a:xfrm>
          <a:prstGeom prst="rect">
            <a:avLst/>
          </a:prstGeom>
          <a:noFill/>
          <a:ln w="19050">
            <a:solidFill>
              <a:schemeClr val="accent1">
                <a:lumMod val="75000"/>
              </a:schemeClr>
            </a:solidFill>
            <a:prstDash val="dash"/>
          </a:ln>
        </p:spPr>
        <p:txBody>
          <a:bodyPr wrap="square">
            <a:spAutoFit/>
          </a:bodyPr>
          <a:lstStyle/>
          <a:p>
            <a:pPr algn="ctr"/>
            <a:r>
              <a:rPr lang="en-IN" dirty="0">
                <a:latin typeface="Helvetica" pitchFamily="2" charset="0"/>
              </a:rPr>
              <a:t>There are </a:t>
            </a:r>
            <a:r>
              <a:rPr lang="en-IN" b="1" dirty="0">
                <a:latin typeface="Helvetica" pitchFamily="2" charset="0"/>
              </a:rPr>
              <a:t>10000 total customers</a:t>
            </a:r>
            <a:r>
              <a:rPr lang="en-IN" dirty="0">
                <a:latin typeface="Helvetica" pitchFamily="2" charset="0"/>
              </a:rPr>
              <a:t>, out of which </a:t>
            </a:r>
            <a:r>
              <a:rPr lang="en-IN" b="1" dirty="0">
                <a:latin typeface="Helvetica" pitchFamily="2" charset="0"/>
              </a:rPr>
              <a:t>51.51% customers are active </a:t>
            </a:r>
            <a:r>
              <a:rPr lang="en-IN" dirty="0">
                <a:latin typeface="Helvetica" pitchFamily="2" charset="0"/>
              </a:rPr>
              <a:t>customers. About </a:t>
            </a:r>
            <a:r>
              <a:rPr lang="en-IN" b="1" dirty="0">
                <a:latin typeface="Helvetica" pitchFamily="2" charset="0"/>
              </a:rPr>
              <a:t>70.55% </a:t>
            </a:r>
            <a:r>
              <a:rPr lang="en-IN" dirty="0">
                <a:latin typeface="Helvetica" pitchFamily="2" charset="0"/>
              </a:rPr>
              <a:t>of total customers have a </a:t>
            </a:r>
            <a:r>
              <a:rPr lang="en-IN" b="1" dirty="0">
                <a:latin typeface="Helvetica" pitchFamily="2" charset="0"/>
              </a:rPr>
              <a:t>credit card</a:t>
            </a:r>
            <a:r>
              <a:rPr lang="en-IN" dirty="0">
                <a:latin typeface="Helvetica" pitchFamily="2" charset="0"/>
              </a:rPr>
              <a:t>. </a:t>
            </a:r>
            <a:r>
              <a:rPr lang="en-IN" b="1" dirty="0">
                <a:latin typeface="Helvetica" pitchFamily="2" charset="0"/>
              </a:rPr>
              <a:t>One out of every five </a:t>
            </a:r>
            <a:r>
              <a:rPr lang="en-IN" dirty="0">
                <a:latin typeface="Helvetica" pitchFamily="2" charset="0"/>
              </a:rPr>
              <a:t>customers churned.</a:t>
            </a:r>
            <a:endParaRPr lang="en-IN" b="1" dirty="0"/>
          </a:p>
        </p:txBody>
      </p:sp>
      <p:pic>
        <p:nvPicPr>
          <p:cNvPr id="4" name="Picture 3">
            <a:extLst>
              <a:ext uri="{FF2B5EF4-FFF2-40B4-BE49-F238E27FC236}">
                <a16:creationId xmlns:a16="http://schemas.microsoft.com/office/drawing/2014/main" id="{D70B9CBF-2BED-B683-DED8-12B171B3B496}"/>
              </a:ext>
            </a:extLst>
          </p:cNvPr>
          <p:cNvPicPr>
            <a:picLocks noChangeAspect="1"/>
          </p:cNvPicPr>
          <p:nvPr/>
        </p:nvPicPr>
        <p:blipFill>
          <a:blip r:embed="rId2"/>
          <a:stretch>
            <a:fillRect/>
          </a:stretch>
        </p:blipFill>
        <p:spPr>
          <a:xfrm>
            <a:off x="1037518" y="2587323"/>
            <a:ext cx="10116962" cy="990738"/>
          </a:xfrm>
          <a:prstGeom prst="rect">
            <a:avLst/>
          </a:prstGeom>
        </p:spPr>
      </p:pic>
    </p:spTree>
    <p:extLst>
      <p:ext uri="{BB962C8B-B14F-4D97-AF65-F5344CB8AC3E}">
        <p14:creationId xmlns:p14="http://schemas.microsoft.com/office/powerpoint/2010/main" val="1921566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BE258-7981-CCEE-9498-7DC4D602ED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EFD76E-4555-AC93-B240-BA848054D247}"/>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7DBE5863-8964-3ADE-1094-F7756A1FB350}"/>
              </a:ext>
            </a:extLst>
          </p:cNvPr>
          <p:cNvSpPr txBox="1"/>
          <p:nvPr/>
        </p:nvSpPr>
        <p:spPr>
          <a:xfrm>
            <a:off x="1037518" y="5183871"/>
            <a:ext cx="10116962" cy="646331"/>
          </a:xfrm>
          <a:prstGeom prst="rect">
            <a:avLst/>
          </a:prstGeom>
          <a:noFill/>
          <a:ln w="19050">
            <a:solidFill>
              <a:schemeClr val="accent1">
                <a:lumMod val="75000"/>
              </a:schemeClr>
            </a:solidFill>
            <a:prstDash val="dash"/>
          </a:ln>
        </p:spPr>
        <p:txBody>
          <a:bodyPr wrap="square">
            <a:spAutoFit/>
          </a:bodyPr>
          <a:lstStyle/>
          <a:p>
            <a:pPr algn="ctr"/>
            <a:r>
              <a:rPr lang="en-IN" dirty="0">
                <a:latin typeface="Helvetica" pitchFamily="2" charset="0"/>
              </a:rPr>
              <a:t>Customer </a:t>
            </a:r>
            <a:r>
              <a:rPr lang="en-IN" b="1" dirty="0">
                <a:latin typeface="Helvetica" pitchFamily="2" charset="0"/>
              </a:rPr>
              <a:t>Churn</a:t>
            </a:r>
            <a:r>
              <a:rPr lang="en-IN" dirty="0">
                <a:latin typeface="Helvetica" pitchFamily="2" charset="0"/>
              </a:rPr>
              <a:t> is </a:t>
            </a:r>
            <a:r>
              <a:rPr lang="en-US" b="1" dirty="0">
                <a:latin typeface="Helvetica" pitchFamily="2" charset="0"/>
              </a:rPr>
              <a:t>approximately</a:t>
            </a:r>
            <a:r>
              <a:rPr lang="en-US" dirty="0">
                <a:latin typeface="Helvetica" pitchFamily="2" charset="0"/>
              </a:rPr>
              <a:t> </a:t>
            </a:r>
            <a:r>
              <a:rPr lang="en-US" b="1" dirty="0">
                <a:latin typeface="Helvetica" pitchFamily="2" charset="0"/>
              </a:rPr>
              <a:t>10% higher </a:t>
            </a:r>
            <a:r>
              <a:rPr lang="en-US" dirty="0">
                <a:latin typeface="Helvetica" pitchFamily="2" charset="0"/>
              </a:rPr>
              <a:t>among </a:t>
            </a:r>
            <a:r>
              <a:rPr lang="en-US" b="1" dirty="0">
                <a:latin typeface="Helvetica" pitchFamily="2" charset="0"/>
              </a:rPr>
              <a:t>inactive members </a:t>
            </a:r>
            <a:r>
              <a:rPr lang="en-US" dirty="0">
                <a:latin typeface="Helvetica" pitchFamily="2" charset="0"/>
              </a:rPr>
              <a:t>compared to active bank members</a:t>
            </a:r>
            <a:r>
              <a:rPr lang="en-IN" dirty="0">
                <a:latin typeface="Helvetica" pitchFamily="2" charset="0"/>
              </a:rPr>
              <a:t>. Keeping in mind that approx. half of the members are active.</a:t>
            </a:r>
            <a:endParaRPr lang="en-IN" b="1" dirty="0"/>
          </a:p>
        </p:txBody>
      </p:sp>
      <p:pic>
        <p:nvPicPr>
          <p:cNvPr id="5" name="Picture 4">
            <a:extLst>
              <a:ext uri="{FF2B5EF4-FFF2-40B4-BE49-F238E27FC236}">
                <a16:creationId xmlns:a16="http://schemas.microsoft.com/office/drawing/2014/main" id="{E1FC8AD3-3698-EE46-571D-E10E6BE6539C}"/>
              </a:ext>
            </a:extLst>
          </p:cNvPr>
          <p:cNvPicPr>
            <a:picLocks noChangeAspect="1"/>
          </p:cNvPicPr>
          <p:nvPr/>
        </p:nvPicPr>
        <p:blipFill>
          <a:blip r:embed="rId2"/>
          <a:stretch>
            <a:fillRect/>
          </a:stretch>
        </p:blipFill>
        <p:spPr>
          <a:xfrm>
            <a:off x="3847072" y="1280096"/>
            <a:ext cx="4497856" cy="3442359"/>
          </a:xfrm>
          <a:prstGeom prst="rect">
            <a:avLst/>
          </a:prstGeom>
        </p:spPr>
      </p:pic>
    </p:spTree>
    <p:extLst>
      <p:ext uri="{BB962C8B-B14F-4D97-AF65-F5344CB8AC3E}">
        <p14:creationId xmlns:p14="http://schemas.microsoft.com/office/powerpoint/2010/main" val="603149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46F74-8A26-DA10-66F3-49837ADCFE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F138B5-3951-1D9F-BC1C-87224997C930}"/>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282DAE38-C329-5828-9958-88663B72F451}"/>
              </a:ext>
            </a:extLst>
          </p:cNvPr>
          <p:cNvSpPr txBox="1"/>
          <p:nvPr/>
        </p:nvSpPr>
        <p:spPr>
          <a:xfrm>
            <a:off x="1037517" y="4952643"/>
            <a:ext cx="10116962" cy="1200329"/>
          </a:xfrm>
          <a:prstGeom prst="rect">
            <a:avLst/>
          </a:prstGeom>
          <a:noFill/>
          <a:ln w="19050">
            <a:solidFill>
              <a:schemeClr val="accent1">
                <a:lumMod val="75000"/>
              </a:schemeClr>
            </a:solidFill>
            <a:prstDash val="dash"/>
          </a:ln>
        </p:spPr>
        <p:txBody>
          <a:bodyPr wrap="square">
            <a:spAutoFit/>
          </a:bodyPr>
          <a:lstStyle/>
          <a:p>
            <a:pPr algn="ctr"/>
            <a:r>
              <a:rPr lang="en-IN" dirty="0">
                <a:latin typeface="Helvetica" pitchFamily="2" charset="0"/>
              </a:rPr>
              <a:t>Considering the customer having a tenure </a:t>
            </a:r>
            <a:r>
              <a:rPr lang="en-IN" b="1" dirty="0">
                <a:latin typeface="Helvetica" pitchFamily="2" charset="0"/>
              </a:rPr>
              <a:t>&gt;4 years as long-term and the rest as new</a:t>
            </a:r>
            <a:r>
              <a:rPr lang="en-IN" dirty="0">
                <a:latin typeface="Helvetica" pitchFamily="2" charset="0"/>
              </a:rPr>
              <a:t>. We can derive that customers who have just become long-term, </a:t>
            </a:r>
            <a:r>
              <a:rPr lang="en-IN" dirty="0" err="1">
                <a:latin typeface="Helvetica" pitchFamily="2" charset="0"/>
              </a:rPr>
              <a:t>i.e</a:t>
            </a:r>
            <a:r>
              <a:rPr lang="en-IN" dirty="0">
                <a:latin typeface="Helvetica" pitchFamily="2" charset="0"/>
              </a:rPr>
              <a:t>, having tenure of </a:t>
            </a:r>
            <a:r>
              <a:rPr lang="en-IN" b="1" dirty="0">
                <a:latin typeface="Helvetica" pitchFamily="2" charset="0"/>
              </a:rPr>
              <a:t>5 years, have a higher churn rate of 21.91%, and the lowest active members are about 50.68% </a:t>
            </a:r>
            <a:r>
              <a:rPr lang="en-IN" dirty="0">
                <a:latin typeface="Helvetica" pitchFamily="2" charset="0"/>
              </a:rPr>
              <a:t>followed by new customers having a </a:t>
            </a:r>
            <a:r>
              <a:rPr lang="en-IN" b="1" dirty="0">
                <a:latin typeface="Helvetica" pitchFamily="2" charset="0"/>
              </a:rPr>
              <a:t>tenure of 6 years</a:t>
            </a:r>
            <a:r>
              <a:rPr lang="en-IN" dirty="0">
                <a:latin typeface="Helvetica" pitchFamily="2" charset="0"/>
              </a:rPr>
              <a:t>. </a:t>
            </a:r>
            <a:endParaRPr lang="en-IN" b="1" dirty="0"/>
          </a:p>
        </p:txBody>
      </p:sp>
      <p:pic>
        <p:nvPicPr>
          <p:cNvPr id="8" name="Picture 7">
            <a:extLst>
              <a:ext uri="{FF2B5EF4-FFF2-40B4-BE49-F238E27FC236}">
                <a16:creationId xmlns:a16="http://schemas.microsoft.com/office/drawing/2014/main" id="{F632E11A-D464-91F3-2D55-86FB441A403F}"/>
              </a:ext>
            </a:extLst>
          </p:cNvPr>
          <p:cNvPicPr>
            <a:picLocks noChangeAspect="1"/>
          </p:cNvPicPr>
          <p:nvPr/>
        </p:nvPicPr>
        <p:blipFill>
          <a:blip r:embed="rId2"/>
          <a:stretch>
            <a:fillRect/>
          </a:stretch>
        </p:blipFill>
        <p:spPr>
          <a:xfrm>
            <a:off x="1037517" y="1460939"/>
            <a:ext cx="10117478" cy="3188002"/>
          </a:xfrm>
          <a:prstGeom prst="rect">
            <a:avLst/>
          </a:prstGeom>
        </p:spPr>
      </p:pic>
    </p:spTree>
    <p:extLst>
      <p:ext uri="{BB962C8B-B14F-4D97-AF65-F5344CB8AC3E}">
        <p14:creationId xmlns:p14="http://schemas.microsoft.com/office/powerpoint/2010/main" val="2185337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062F9-DEFC-3BD7-9E39-E996EBFCB3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A1C7A2-6448-427A-0B23-379E999633EF}"/>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2F5DC7C8-3BD1-80B7-3D19-B524D221B8EE}"/>
              </a:ext>
            </a:extLst>
          </p:cNvPr>
          <p:cNvSpPr txBox="1"/>
          <p:nvPr/>
        </p:nvSpPr>
        <p:spPr>
          <a:xfrm>
            <a:off x="1037517" y="4952643"/>
            <a:ext cx="10116962" cy="923330"/>
          </a:xfrm>
          <a:prstGeom prst="rect">
            <a:avLst/>
          </a:prstGeom>
          <a:noFill/>
          <a:ln w="19050">
            <a:solidFill>
              <a:schemeClr val="accent1">
                <a:lumMod val="75000"/>
              </a:schemeClr>
            </a:solidFill>
            <a:prstDash val="dash"/>
          </a:ln>
        </p:spPr>
        <p:txBody>
          <a:bodyPr wrap="square">
            <a:spAutoFit/>
          </a:bodyPr>
          <a:lstStyle/>
          <a:p>
            <a:pPr algn="ctr"/>
            <a:r>
              <a:rPr lang="en-IN" dirty="0"/>
              <a:t>Customers with a </a:t>
            </a:r>
            <a:r>
              <a:rPr lang="en-IN" b="1" dirty="0"/>
              <a:t>Poor credit </a:t>
            </a:r>
            <a:r>
              <a:rPr lang="en-IN" dirty="0"/>
              <a:t>rating have the </a:t>
            </a:r>
            <a:r>
              <a:rPr lang="en-IN" b="1" dirty="0"/>
              <a:t>highest churn rate and lowest activeness</a:t>
            </a:r>
            <a:r>
              <a:rPr lang="en-IN" dirty="0"/>
              <a:t>. While the </a:t>
            </a:r>
            <a:r>
              <a:rPr lang="en-IN" b="1" dirty="0"/>
              <a:t>highest activeness </a:t>
            </a:r>
            <a:r>
              <a:rPr lang="en-IN" dirty="0"/>
              <a:t>is seen in customers with </a:t>
            </a:r>
            <a:r>
              <a:rPr lang="en-IN" b="1" dirty="0"/>
              <a:t>Exceptional rating</a:t>
            </a:r>
            <a:r>
              <a:rPr lang="en-IN" dirty="0"/>
              <a:t>, and the </a:t>
            </a:r>
            <a:r>
              <a:rPr lang="en-IN" b="1" dirty="0"/>
              <a:t>lowest churn </a:t>
            </a:r>
            <a:r>
              <a:rPr lang="en-IN" dirty="0"/>
              <a:t>rate is in </a:t>
            </a:r>
            <a:r>
              <a:rPr lang="en-IN" b="1" dirty="0"/>
              <a:t>Good ratings</a:t>
            </a:r>
            <a:r>
              <a:rPr lang="en-IN" dirty="0"/>
              <a:t>, combined with the </a:t>
            </a:r>
            <a:r>
              <a:rPr lang="en-IN" b="1" dirty="0"/>
              <a:t>second-highest active customers</a:t>
            </a:r>
            <a:r>
              <a:rPr lang="en-IN" dirty="0"/>
              <a:t>.</a:t>
            </a:r>
          </a:p>
        </p:txBody>
      </p:sp>
      <p:pic>
        <p:nvPicPr>
          <p:cNvPr id="5" name="Picture 4">
            <a:extLst>
              <a:ext uri="{FF2B5EF4-FFF2-40B4-BE49-F238E27FC236}">
                <a16:creationId xmlns:a16="http://schemas.microsoft.com/office/drawing/2014/main" id="{81DABD62-A83B-22A5-7B62-592820B29695}"/>
              </a:ext>
            </a:extLst>
          </p:cNvPr>
          <p:cNvPicPr>
            <a:picLocks noChangeAspect="1"/>
          </p:cNvPicPr>
          <p:nvPr/>
        </p:nvPicPr>
        <p:blipFill>
          <a:blip r:embed="rId2"/>
          <a:stretch>
            <a:fillRect/>
          </a:stretch>
        </p:blipFill>
        <p:spPr>
          <a:xfrm>
            <a:off x="1037519" y="1361439"/>
            <a:ext cx="10116962" cy="3191923"/>
          </a:xfrm>
          <a:prstGeom prst="rect">
            <a:avLst/>
          </a:prstGeom>
        </p:spPr>
      </p:pic>
    </p:spTree>
    <p:extLst>
      <p:ext uri="{BB962C8B-B14F-4D97-AF65-F5344CB8AC3E}">
        <p14:creationId xmlns:p14="http://schemas.microsoft.com/office/powerpoint/2010/main" val="4225354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7C6F7-F083-032A-AE69-2FCC43E2E3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15712-1D96-7CCE-8686-A51FCEC204A9}"/>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29B8E2FE-F233-D9A8-123A-C6845D98D8A4}"/>
              </a:ext>
            </a:extLst>
          </p:cNvPr>
          <p:cNvSpPr txBox="1"/>
          <p:nvPr/>
        </p:nvSpPr>
        <p:spPr>
          <a:xfrm>
            <a:off x="1037517" y="4952643"/>
            <a:ext cx="10116962" cy="923330"/>
          </a:xfrm>
          <a:prstGeom prst="rect">
            <a:avLst/>
          </a:prstGeom>
          <a:noFill/>
          <a:ln w="19050">
            <a:solidFill>
              <a:schemeClr val="accent1">
                <a:lumMod val="75000"/>
              </a:schemeClr>
            </a:solidFill>
            <a:prstDash val="dash"/>
          </a:ln>
        </p:spPr>
        <p:txBody>
          <a:bodyPr wrap="square">
            <a:spAutoFit/>
          </a:bodyPr>
          <a:lstStyle/>
          <a:p>
            <a:pPr algn="ctr"/>
            <a:r>
              <a:rPr lang="en-IN" dirty="0"/>
              <a:t>There is a </a:t>
            </a:r>
            <a:r>
              <a:rPr lang="en-IN" b="1" dirty="0"/>
              <a:t>100% churn rate </a:t>
            </a:r>
            <a:r>
              <a:rPr lang="en-IN" dirty="0"/>
              <a:t>among customers who have </a:t>
            </a:r>
            <a:r>
              <a:rPr lang="en-IN" b="1" dirty="0"/>
              <a:t>4 products</a:t>
            </a:r>
            <a:r>
              <a:rPr lang="en-IN" dirty="0"/>
              <a:t>. About </a:t>
            </a:r>
            <a:r>
              <a:rPr lang="en-IN" b="1" dirty="0"/>
              <a:t>three out of every four </a:t>
            </a:r>
            <a:r>
              <a:rPr lang="en-IN" dirty="0"/>
              <a:t>customers </a:t>
            </a:r>
            <a:r>
              <a:rPr lang="en-IN" b="1" dirty="0"/>
              <a:t>leave</a:t>
            </a:r>
            <a:r>
              <a:rPr lang="en-IN" dirty="0"/>
              <a:t> if they have </a:t>
            </a:r>
            <a:r>
              <a:rPr lang="en-IN" b="1" dirty="0"/>
              <a:t>3 products</a:t>
            </a:r>
            <a:r>
              <a:rPr lang="en-IN" dirty="0"/>
              <a:t>. At the same time, the </a:t>
            </a:r>
            <a:r>
              <a:rPr lang="en-IN" b="1" dirty="0"/>
              <a:t>retention rate is highest </a:t>
            </a:r>
            <a:r>
              <a:rPr lang="en-IN" dirty="0"/>
              <a:t>in customers having </a:t>
            </a:r>
            <a:r>
              <a:rPr lang="en-IN" b="1" dirty="0"/>
              <a:t>2 products</a:t>
            </a:r>
            <a:r>
              <a:rPr lang="en-IN" dirty="0"/>
              <a:t>.  </a:t>
            </a:r>
            <a:r>
              <a:rPr lang="en-IN" b="1" dirty="0"/>
              <a:t>Non-credit card holders </a:t>
            </a:r>
            <a:r>
              <a:rPr lang="en-IN" dirty="0"/>
              <a:t>have a </a:t>
            </a:r>
            <a:r>
              <a:rPr lang="en-IN" b="1" dirty="0"/>
              <a:t>higher churn rate </a:t>
            </a:r>
            <a:r>
              <a:rPr lang="en-IN" dirty="0"/>
              <a:t>than </a:t>
            </a:r>
            <a:r>
              <a:rPr lang="en-IN" b="1" dirty="0"/>
              <a:t>credit card holders</a:t>
            </a:r>
            <a:r>
              <a:rPr lang="en-IN" dirty="0"/>
              <a:t>. </a:t>
            </a:r>
          </a:p>
        </p:txBody>
      </p:sp>
      <p:pic>
        <p:nvPicPr>
          <p:cNvPr id="4" name="Picture 3">
            <a:extLst>
              <a:ext uri="{FF2B5EF4-FFF2-40B4-BE49-F238E27FC236}">
                <a16:creationId xmlns:a16="http://schemas.microsoft.com/office/drawing/2014/main" id="{CC9F8A39-8570-48B0-9779-0B729341A580}"/>
              </a:ext>
            </a:extLst>
          </p:cNvPr>
          <p:cNvPicPr>
            <a:picLocks noChangeAspect="1"/>
          </p:cNvPicPr>
          <p:nvPr/>
        </p:nvPicPr>
        <p:blipFill>
          <a:blip r:embed="rId2"/>
          <a:stretch>
            <a:fillRect/>
          </a:stretch>
        </p:blipFill>
        <p:spPr>
          <a:xfrm>
            <a:off x="3872442" y="1203393"/>
            <a:ext cx="4447115" cy="3411007"/>
          </a:xfrm>
          <a:prstGeom prst="rect">
            <a:avLst/>
          </a:prstGeom>
        </p:spPr>
      </p:pic>
    </p:spTree>
    <p:extLst>
      <p:ext uri="{BB962C8B-B14F-4D97-AF65-F5344CB8AC3E}">
        <p14:creationId xmlns:p14="http://schemas.microsoft.com/office/powerpoint/2010/main" val="1229632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6C30A-8307-21DF-E9ED-F83996A34C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D133B8-916F-F41B-B189-79D6721A2038}"/>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50C7F9BF-3B80-CA6B-1C43-D538DF1C8161}"/>
              </a:ext>
            </a:extLst>
          </p:cNvPr>
          <p:cNvSpPr txBox="1"/>
          <p:nvPr/>
        </p:nvSpPr>
        <p:spPr>
          <a:xfrm>
            <a:off x="3125325" y="1147898"/>
            <a:ext cx="5941350" cy="461665"/>
          </a:xfrm>
          <a:prstGeom prst="rect">
            <a:avLst/>
          </a:prstGeom>
          <a:noFill/>
          <a:ln w="19050">
            <a:solidFill>
              <a:schemeClr val="accent1">
                <a:lumMod val="75000"/>
              </a:schemeClr>
            </a:solidFill>
            <a:prstDash val="dash"/>
          </a:ln>
        </p:spPr>
        <p:txBody>
          <a:bodyPr wrap="square">
            <a:spAutoFit/>
          </a:bodyPr>
          <a:lstStyle/>
          <a:p>
            <a:pPr algn="ctr"/>
            <a:r>
              <a:rPr lang="en-IN" sz="2400" b="1" dirty="0"/>
              <a:t>ABNORMALITIES BEHAVIORAL INSIGHTS</a:t>
            </a:r>
          </a:p>
        </p:txBody>
      </p:sp>
      <p:graphicFrame>
        <p:nvGraphicFramePr>
          <p:cNvPr id="3" name="Table 2">
            <a:extLst>
              <a:ext uri="{FF2B5EF4-FFF2-40B4-BE49-F238E27FC236}">
                <a16:creationId xmlns:a16="http://schemas.microsoft.com/office/drawing/2014/main" id="{2D21D1F7-A5A1-1DBA-F602-3771219F462E}"/>
              </a:ext>
            </a:extLst>
          </p:cNvPr>
          <p:cNvGraphicFramePr>
            <a:graphicFrameLocks noGrp="1"/>
          </p:cNvGraphicFramePr>
          <p:nvPr>
            <p:extLst>
              <p:ext uri="{D42A27DB-BD31-4B8C-83A1-F6EECF244321}">
                <p14:modId xmlns:p14="http://schemas.microsoft.com/office/powerpoint/2010/main" val="861575219"/>
              </p:ext>
            </p:extLst>
          </p:nvPr>
        </p:nvGraphicFramePr>
        <p:xfrm>
          <a:off x="696000" y="2099114"/>
          <a:ext cx="10800000" cy="3967480"/>
        </p:xfrm>
        <a:graphic>
          <a:graphicData uri="http://schemas.openxmlformats.org/drawingml/2006/table">
            <a:tbl>
              <a:tblPr firstRow="1" bandRow="1">
                <a:tableStyleId>{8A107856-5554-42FB-B03E-39F5DBC370BA}</a:tableStyleId>
              </a:tblPr>
              <a:tblGrid>
                <a:gridCol w="2562207">
                  <a:extLst>
                    <a:ext uri="{9D8B030D-6E8A-4147-A177-3AD203B41FA5}">
                      <a16:colId xmlns:a16="http://schemas.microsoft.com/office/drawing/2014/main" val="2913621445"/>
                    </a:ext>
                  </a:extLst>
                </a:gridCol>
                <a:gridCol w="8237793">
                  <a:extLst>
                    <a:ext uri="{9D8B030D-6E8A-4147-A177-3AD203B41FA5}">
                      <a16:colId xmlns:a16="http://schemas.microsoft.com/office/drawing/2014/main" val="3834733218"/>
                    </a:ext>
                  </a:extLst>
                </a:gridCol>
              </a:tblGrid>
              <a:tr h="370840">
                <a:tc>
                  <a:txBody>
                    <a:bodyPr/>
                    <a:lstStyle/>
                    <a:p>
                      <a:pPr algn="ctr"/>
                      <a:r>
                        <a:rPr lang="en-IN" sz="1800" b="1" kern="1200" dirty="0">
                          <a:solidFill>
                            <a:schemeClr val="bg1"/>
                          </a:solidFill>
                          <a:latin typeface="Helvetica" pitchFamily="2" charset="0"/>
                          <a:ea typeface="Verdana" panose="020B0604030504040204" pitchFamily="34" charset="0"/>
                          <a:cs typeface="+mn-cs"/>
                        </a:rPr>
                        <a:t>Filter Category</a:t>
                      </a:r>
                    </a:p>
                  </a:txBody>
                  <a:tcPr>
                    <a:solidFill>
                      <a:schemeClr val="accent2"/>
                    </a:solidFill>
                  </a:tcPr>
                </a:tc>
                <a:tc>
                  <a:txBody>
                    <a:bodyPr/>
                    <a:lstStyle/>
                    <a:p>
                      <a:pPr algn="ctr"/>
                      <a:r>
                        <a:rPr lang="en-IN" sz="1800" b="1" kern="1200" dirty="0">
                          <a:solidFill>
                            <a:schemeClr val="bg1"/>
                          </a:solidFill>
                          <a:latin typeface="Helvetica" pitchFamily="2" charset="0"/>
                          <a:ea typeface="Verdana" panose="020B0604030504040204" pitchFamily="34" charset="0"/>
                          <a:cs typeface="+mn-cs"/>
                        </a:rPr>
                        <a:t>Insights</a:t>
                      </a:r>
                    </a:p>
                  </a:txBody>
                  <a:tcPr>
                    <a:solidFill>
                      <a:schemeClr val="accent2"/>
                    </a:solidFill>
                  </a:tcPr>
                </a:tc>
                <a:extLst>
                  <a:ext uri="{0D108BD9-81ED-4DB2-BD59-A6C34878D82A}">
                    <a16:rowId xmlns:a16="http://schemas.microsoft.com/office/drawing/2014/main" val="1609204775"/>
                  </a:ext>
                </a:extLst>
              </a:tr>
              <a:tr h="370840">
                <a:tc>
                  <a:txBody>
                    <a:bodyPr/>
                    <a:lstStyle/>
                    <a:p>
                      <a:pPr algn="ctr"/>
                      <a:r>
                        <a:rPr lang="en-IN" sz="1600" b="1" kern="1200" dirty="0">
                          <a:solidFill>
                            <a:schemeClr val="tx1"/>
                          </a:solidFill>
                          <a:latin typeface="Helvetica" pitchFamily="2" charset="0"/>
                          <a:ea typeface="Verdana" panose="020B0604030504040204" pitchFamily="34" charset="0"/>
                          <a:cs typeface="+mn-cs"/>
                        </a:rPr>
                        <a:t>Credit Card Holder or Non-Credit Card Holder</a:t>
                      </a:r>
                    </a:p>
                  </a:txBody>
                  <a:tcPr anchor="ctr"/>
                </a:tc>
                <a:tc>
                  <a:txBody>
                    <a:bodyPr/>
                    <a:lstStyle/>
                    <a:p>
                      <a:pPr marL="285750" indent="-285750">
                        <a:buFont typeface="Arial" panose="020B0604020202020204" pitchFamily="34" charset="0"/>
                        <a:buChar char="•"/>
                      </a:pPr>
                      <a:r>
                        <a:rPr lang="en-IN" sz="1600" b="0" kern="1200" dirty="0">
                          <a:solidFill>
                            <a:schemeClr val="tx1"/>
                          </a:solidFill>
                          <a:latin typeface="Helvetica" pitchFamily="2" charset="0"/>
                          <a:ea typeface="Verdana" panose="020B0604030504040204" pitchFamily="34" charset="0"/>
                          <a:cs typeface="+mn-cs"/>
                        </a:rPr>
                        <a:t>In terms of credit card ratings, non-credit card holder shows an anomaly, i.e., there is a high churn rate in the Exceptional credit rating, nearly the same as the Poor credit rating, about 23.15% churn</a:t>
                      </a:r>
                      <a:br>
                        <a:rPr lang="en-IN" sz="1600" b="0" kern="1200" dirty="0">
                          <a:solidFill>
                            <a:schemeClr val="tx1"/>
                          </a:solidFill>
                          <a:latin typeface="Helvetica" pitchFamily="2" charset="0"/>
                          <a:ea typeface="Verdana" panose="020B0604030504040204" pitchFamily="34" charset="0"/>
                          <a:cs typeface="+mn-cs"/>
                        </a:rPr>
                      </a:br>
                      <a:r>
                        <a:rPr lang="en-IN" sz="1600" b="0" kern="1200" dirty="0">
                          <a:solidFill>
                            <a:schemeClr val="tx1"/>
                          </a:solidFill>
                          <a:latin typeface="Helvetica" pitchFamily="2" charset="0"/>
                          <a:ea typeface="Verdana" panose="020B0604030504040204" pitchFamily="34" charset="0"/>
                          <a:cs typeface="+mn-cs"/>
                        </a:rPr>
                        <a:t> </a:t>
                      </a:r>
                    </a:p>
                    <a:p>
                      <a:pPr marL="285750" indent="-285750">
                        <a:buFont typeface="Arial" panose="020B0604020202020204" pitchFamily="34" charset="0"/>
                        <a:buChar char="•"/>
                      </a:pPr>
                      <a:r>
                        <a:rPr lang="en-IN" sz="1600" b="0" kern="1200" dirty="0">
                          <a:solidFill>
                            <a:schemeClr val="tx1"/>
                          </a:solidFill>
                          <a:latin typeface="Helvetica" pitchFamily="2" charset="0"/>
                          <a:ea typeface="Verdana" panose="020B0604030504040204" pitchFamily="34" charset="0"/>
                          <a:cs typeface="+mn-cs"/>
                        </a:rPr>
                        <a:t>In terms of tenure, new customers have an increased churn in non-credit card holder customers</a:t>
                      </a:r>
                    </a:p>
                  </a:txBody>
                  <a:tcPr/>
                </a:tc>
                <a:extLst>
                  <a:ext uri="{0D108BD9-81ED-4DB2-BD59-A6C34878D82A}">
                    <a16:rowId xmlns:a16="http://schemas.microsoft.com/office/drawing/2014/main" val="694344141"/>
                  </a:ext>
                </a:extLst>
              </a:tr>
              <a:tr h="370840">
                <a:tc>
                  <a:txBody>
                    <a:bodyPr/>
                    <a:lstStyle/>
                    <a:p>
                      <a:pPr algn="ctr"/>
                      <a:r>
                        <a:rPr lang="en-IN" sz="1600" b="1" kern="1200" dirty="0">
                          <a:solidFill>
                            <a:schemeClr val="tx1"/>
                          </a:solidFill>
                          <a:latin typeface="Helvetica" pitchFamily="2" charset="0"/>
                          <a:ea typeface="Verdana" panose="020B0604030504040204" pitchFamily="34" charset="0"/>
                          <a:cs typeface="+mn-cs"/>
                        </a:rPr>
                        <a:t>Age Group: 18-30, 31-50 and 50+</a:t>
                      </a:r>
                    </a:p>
                  </a:txBody>
                  <a:tcPr anchor="ctr"/>
                </a:tc>
                <a:tc>
                  <a:txBody>
                    <a:bodyPr/>
                    <a:lstStyle/>
                    <a:p>
                      <a:pPr marL="285750" indent="-285750">
                        <a:buFont typeface="Arial" panose="020B0604020202020204" pitchFamily="34" charset="0"/>
                        <a:buChar char="•"/>
                      </a:pPr>
                      <a:r>
                        <a:rPr lang="en-IN" sz="1600" b="0" kern="1200" dirty="0">
                          <a:solidFill>
                            <a:schemeClr val="tx1"/>
                          </a:solidFill>
                          <a:latin typeface="Helvetica" pitchFamily="2" charset="0"/>
                          <a:ea typeface="Verdana" panose="020B0604030504040204" pitchFamily="34" charset="0"/>
                          <a:cs typeface="+mn-cs"/>
                        </a:rPr>
                        <a:t>In terms of tenure and credit card ratings, the 18-30 age group doesn’t show any deviations</a:t>
                      </a:r>
                      <a:br>
                        <a:rPr lang="en-IN" sz="1600" b="0" kern="1200" dirty="0">
                          <a:solidFill>
                            <a:schemeClr val="tx1"/>
                          </a:solidFill>
                          <a:latin typeface="Helvetica" pitchFamily="2" charset="0"/>
                          <a:ea typeface="Verdana" panose="020B0604030504040204" pitchFamily="34" charset="0"/>
                          <a:cs typeface="+mn-cs"/>
                        </a:rPr>
                      </a:br>
                      <a:endParaRPr lang="en-IN" sz="1600" b="0" kern="1200" dirty="0">
                        <a:solidFill>
                          <a:schemeClr val="tx1"/>
                        </a:solidFill>
                        <a:latin typeface="Helvetica" pitchFamily="2" charset="0"/>
                        <a:ea typeface="Verdana" panose="020B0604030504040204" pitchFamily="34" charset="0"/>
                        <a:cs typeface="+mn-cs"/>
                      </a:endParaRPr>
                    </a:p>
                    <a:p>
                      <a:pPr marL="285750" indent="-285750">
                        <a:buFont typeface="Arial" panose="020B0604020202020204" pitchFamily="34" charset="0"/>
                        <a:buChar char="•"/>
                      </a:pPr>
                      <a:r>
                        <a:rPr lang="en-IN" sz="1600" b="0" kern="1200" dirty="0">
                          <a:solidFill>
                            <a:schemeClr val="tx1"/>
                          </a:solidFill>
                          <a:latin typeface="Helvetica" pitchFamily="2" charset="0"/>
                          <a:ea typeface="Verdana" panose="020B0604030504040204" pitchFamily="34" charset="0"/>
                          <a:cs typeface="+mn-cs"/>
                        </a:rPr>
                        <a:t>In the age group 31-50, there is an anomaly considering the Active and Inactive customers. Here, the trend reverses, and there is 10% more churn in Active members</a:t>
                      </a:r>
                      <a:br>
                        <a:rPr lang="en-IN" sz="1600" b="0" kern="1200" dirty="0">
                          <a:solidFill>
                            <a:schemeClr val="tx1"/>
                          </a:solidFill>
                          <a:latin typeface="Helvetica" pitchFamily="2" charset="0"/>
                          <a:ea typeface="Verdana" panose="020B0604030504040204" pitchFamily="34" charset="0"/>
                          <a:cs typeface="+mn-cs"/>
                        </a:rPr>
                      </a:br>
                      <a:endParaRPr lang="en-IN" sz="1600" b="0" kern="1200" dirty="0">
                        <a:solidFill>
                          <a:schemeClr val="tx1"/>
                        </a:solidFill>
                        <a:latin typeface="Helvetica" pitchFamily="2" charset="0"/>
                        <a:ea typeface="Verdana" panose="020B0604030504040204" pitchFamily="34" charset="0"/>
                        <a:cs typeface="+mn-cs"/>
                      </a:endParaRPr>
                    </a:p>
                    <a:p>
                      <a:pPr marL="285750" indent="-285750">
                        <a:buFont typeface="Arial" panose="020B0604020202020204" pitchFamily="34" charset="0"/>
                        <a:buChar char="•"/>
                      </a:pPr>
                      <a:r>
                        <a:rPr lang="en-IN" sz="1600" b="0" kern="1200" dirty="0">
                          <a:solidFill>
                            <a:schemeClr val="tx1"/>
                          </a:solidFill>
                          <a:latin typeface="Helvetica" pitchFamily="2" charset="0"/>
                          <a:ea typeface="Verdana" panose="020B0604030504040204" pitchFamily="34" charset="0"/>
                          <a:cs typeface="+mn-cs"/>
                        </a:rPr>
                        <a:t>In the age group 50+, there exists the highest churn rate, and even customers with Excellent and Very Good credit ratings have churned</a:t>
                      </a:r>
                    </a:p>
                  </a:txBody>
                  <a:tcPr/>
                </a:tc>
                <a:extLst>
                  <a:ext uri="{0D108BD9-81ED-4DB2-BD59-A6C34878D82A}">
                    <a16:rowId xmlns:a16="http://schemas.microsoft.com/office/drawing/2014/main" val="2267822871"/>
                  </a:ext>
                </a:extLst>
              </a:tr>
            </a:tbl>
          </a:graphicData>
        </a:graphic>
      </p:graphicFrame>
    </p:spTree>
    <p:extLst>
      <p:ext uri="{BB962C8B-B14F-4D97-AF65-F5344CB8AC3E}">
        <p14:creationId xmlns:p14="http://schemas.microsoft.com/office/powerpoint/2010/main" val="535835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95A4A-072B-CAC8-9C34-DD5F5953EB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B4ABC6-F452-D200-004E-6BADD9A7A1F4}"/>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Demographical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EB07882F-877D-45F6-12F0-7ECA3798ABFE}"/>
              </a:ext>
            </a:extLst>
          </p:cNvPr>
          <p:cNvSpPr txBox="1"/>
          <p:nvPr/>
        </p:nvSpPr>
        <p:spPr>
          <a:xfrm>
            <a:off x="1037517" y="4952643"/>
            <a:ext cx="10116962" cy="646331"/>
          </a:xfrm>
          <a:prstGeom prst="rect">
            <a:avLst/>
          </a:prstGeom>
          <a:noFill/>
          <a:ln w="19050">
            <a:solidFill>
              <a:schemeClr val="accent1">
                <a:lumMod val="75000"/>
              </a:schemeClr>
            </a:solidFill>
            <a:prstDash val="dash"/>
          </a:ln>
        </p:spPr>
        <p:txBody>
          <a:bodyPr wrap="square">
            <a:spAutoFit/>
          </a:bodyPr>
          <a:lstStyle/>
          <a:p>
            <a:pPr algn="ctr"/>
            <a:r>
              <a:rPr lang="en-IN" b="1" dirty="0"/>
              <a:t>More than 50% </a:t>
            </a:r>
            <a:r>
              <a:rPr lang="en-IN" dirty="0"/>
              <a:t>of customers reside in </a:t>
            </a:r>
            <a:r>
              <a:rPr lang="en-IN" b="1" dirty="0"/>
              <a:t>France</a:t>
            </a:r>
            <a:r>
              <a:rPr lang="en-IN" dirty="0"/>
              <a:t>. </a:t>
            </a:r>
            <a:r>
              <a:rPr lang="en-IN" b="1" dirty="0"/>
              <a:t>Spain</a:t>
            </a:r>
            <a:r>
              <a:rPr lang="en-IN" dirty="0"/>
              <a:t> has the </a:t>
            </a:r>
            <a:r>
              <a:rPr lang="en-IN" b="1" dirty="0"/>
              <a:t>highest % of active customers </a:t>
            </a:r>
            <a:r>
              <a:rPr lang="en-IN" dirty="0"/>
              <a:t>at 52.97%. </a:t>
            </a:r>
            <a:r>
              <a:rPr lang="en-IN" b="1" dirty="0"/>
              <a:t>Germany</a:t>
            </a:r>
            <a:r>
              <a:rPr lang="en-IN" dirty="0"/>
              <a:t> has the </a:t>
            </a:r>
            <a:r>
              <a:rPr lang="en-IN" b="1" dirty="0"/>
              <a:t>highest churn rate</a:t>
            </a:r>
            <a:r>
              <a:rPr lang="en-IN" dirty="0"/>
              <a:t> at 32.44% with </a:t>
            </a:r>
            <a:r>
              <a:rPr lang="en-IN" b="1" dirty="0"/>
              <a:t>the lowest % of active customers </a:t>
            </a:r>
            <a:r>
              <a:rPr lang="en-IN" dirty="0"/>
              <a:t>at 49.74%.  </a:t>
            </a:r>
          </a:p>
        </p:txBody>
      </p:sp>
      <p:pic>
        <p:nvPicPr>
          <p:cNvPr id="5" name="Picture 4">
            <a:extLst>
              <a:ext uri="{FF2B5EF4-FFF2-40B4-BE49-F238E27FC236}">
                <a16:creationId xmlns:a16="http://schemas.microsoft.com/office/drawing/2014/main" id="{BF007880-578A-6A70-D9DF-209B76707FA8}"/>
              </a:ext>
            </a:extLst>
          </p:cNvPr>
          <p:cNvPicPr>
            <a:picLocks noChangeAspect="1"/>
          </p:cNvPicPr>
          <p:nvPr/>
        </p:nvPicPr>
        <p:blipFill>
          <a:blip r:embed="rId2"/>
          <a:stretch>
            <a:fillRect/>
          </a:stretch>
        </p:blipFill>
        <p:spPr>
          <a:xfrm>
            <a:off x="1037519" y="2055222"/>
            <a:ext cx="10116962" cy="1791545"/>
          </a:xfrm>
          <a:prstGeom prst="rect">
            <a:avLst/>
          </a:prstGeom>
        </p:spPr>
      </p:pic>
    </p:spTree>
    <p:extLst>
      <p:ext uri="{BB962C8B-B14F-4D97-AF65-F5344CB8AC3E}">
        <p14:creationId xmlns:p14="http://schemas.microsoft.com/office/powerpoint/2010/main" val="285686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055A-F628-AE3C-4F89-BB25BE15A8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454DD9-CCA4-C698-561D-43D9B38F81AF}"/>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Demographical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BCFD4B6C-C63E-848D-3E46-0CD9203DA3F4}"/>
              </a:ext>
            </a:extLst>
          </p:cNvPr>
          <p:cNvSpPr txBox="1"/>
          <p:nvPr/>
        </p:nvSpPr>
        <p:spPr>
          <a:xfrm>
            <a:off x="1037519" y="5221707"/>
            <a:ext cx="10116962" cy="923330"/>
          </a:xfrm>
          <a:prstGeom prst="rect">
            <a:avLst/>
          </a:prstGeom>
          <a:noFill/>
          <a:ln w="19050">
            <a:solidFill>
              <a:schemeClr val="accent1">
                <a:lumMod val="75000"/>
              </a:schemeClr>
            </a:solidFill>
            <a:prstDash val="dash"/>
          </a:ln>
        </p:spPr>
        <p:txBody>
          <a:bodyPr wrap="square">
            <a:spAutoFit/>
          </a:bodyPr>
          <a:lstStyle/>
          <a:p>
            <a:pPr algn="ctr"/>
            <a:r>
              <a:rPr lang="en-IN" b="1" dirty="0"/>
              <a:t>Higher income groups</a:t>
            </a:r>
            <a:r>
              <a:rPr lang="en-IN" dirty="0"/>
              <a:t> have a </a:t>
            </a:r>
            <a:r>
              <a:rPr lang="en-IN" b="1" dirty="0"/>
              <a:t>higher churn rate </a:t>
            </a:r>
            <a:r>
              <a:rPr lang="en-IN" dirty="0"/>
              <a:t>compared to lower income groups. There exists a </a:t>
            </a:r>
            <a:r>
              <a:rPr lang="en-IN" b="1" dirty="0"/>
              <a:t>declining churn rate trend </a:t>
            </a:r>
            <a:r>
              <a:rPr lang="en-IN" dirty="0"/>
              <a:t>as we move down to the </a:t>
            </a:r>
            <a:r>
              <a:rPr lang="en-IN" b="1" dirty="0"/>
              <a:t>lower income group</a:t>
            </a:r>
            <a:r>
              <a:rPr lang="en-IN" dirty="0"/>
              <a:t>, except one income group, </a:t>
            </a:r>
            <a:r>
              <a:rPr lang="en-IN" b="1" dirty="0"/>
              <a:t>50K-70K</a:t>
            </a:r>
            <a:r>
              <a:rPr lang="en-IN" dirty="0"/>
              <a:t>, which has </a:t>
            </a:r>
            <a:r>
              <a:rPr lang="en-IN" b="1" dirty="0"/>
              <a:t>high churn and the highest active customer</a:t>
            </a:r>
            <a:r>
              <a:rPr lang="en-IN" dirty="0"/>
              <a:t>.   </a:t>
            </a:r>
          </a:p>
        </p:txBody>
      </p:sp>
      <p:pic>
        <p:nvPicPr>
          <p:cNvPr id="4" name="Picture 3">
            <a:extLst>
              <a:ext uri="{FF2B5EF4-FFF2-40B4-BE49-F238E27FC236}">
                <a16:creationId xmlns:a16="http://schemas.microsoft.com/office/drawing/2014/main" id="{B6E51E36-B7FF-AA69-5AD0-B0F2E442683A}"/>
              </a:ext>
            </a:extLst>
          </p:cNvPr>
          <p:cNvPicPr>
            <a:picLocks noChangeAspect="1"/>
          </p:cNvPicPr>
          <p:nvPr/>
        </p:nvPicPr>
        <p:blipFill>
          <a:blip r:embed="rId2"/>
          <a:stretch>
            <a:fillRect/>
          </a:stretch>
        </p:blipFill>
        <p:spPr>
          <a:xfrm>
            <a:off x="4050315" y="1050369"/>
            <a:ext cx="4091370" cy="3973576"/>
          </a:xfrm>
          <a:prstGeom prst="rect">
            <a:avLst/>
          </a:prstGeom>
        </p:spPr>
      </p:pic>
    </p:spTree>
    <p:extLst>
      <p:ext uri="{BB962C8B-B14F-4D97-AF65-F5344CB8AC3E}">
        <p14:creationId xmlns:p14="http://schemas.microsoft.com/office/powerpoint/2010/main" val="1265935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2A727-4CB9-A0FE-0E65-6E53D6122A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27F4B6-2CE0-45E2-E1B3-0B97C8635996}"/>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Demographical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3E9D022F-4464-0F1F-D02F-2F11A982111F}"/>
              </a:ext>
            </a:extLst>
          </p:cNvPr>
          <p:cNvSpPr txBox="1"/>
          <p:nvPr/>
        </p:nvSpPr>
        <p:spPr>
          <a:xfrm>
            <a:off x="1037518" y="5502912"/>
            <a:ext cx="10116962" cy="646331"/>
          </a:xfrm>
          <a:prstGeom prst="rect">
            <a:avLst/>
          </a:prstGeom>
          <a:noFill/>
          <a:ln w="19050">
            <a:solidFill>
              <a:schemeClr val="accent1">
                <a:lumMod val="75000"/>
              </a:schemeClr>
            </a:solidFill>
            <a:prstDash val="dash"/>
          </a:ln>
        </p:spPr>
        <p:txBody>
          <a:bodyPr wrap="square">
            <a:spAutoFit/>
          </a:bodyPr>
          <a:lstStyle/>
          <a:p>
            <a:pPr algn="ctr"/>
            <a:r>
              <a:rPr lang="en-IN" dirty="0"/>
              <a:t>Age group </a:t>
            </a:r>
            <a:r>
              <a:rPr lang="en-IN" b="1" dirty="0"/>
              <a:t>50+ has the highest churn rate </a:t>
            </a:r>
            <a:r>
              <a:rPr lang="en-IN" dirty="0"/>
              <a:t>as well as </a:t>
            </a:r>
            <a:r>
              <a:rPr lang="en-IN" b="1" dirty="0"/>
              <a:t>the highest active customers</a:t>
            </a:r>
            <a:r>
              <a:rPr lang="en-IN" dirty="0"/>
              <a:t>. Age group </a:t>
            </a:r>
            <a:r>
              <a:rPr lang="en-IN" b="1" dirty="0"/>
              <a:t>18-30 </a:t>
            </a:r>
            <a:r>
              <a:rPr lang="en-IN" dirty="0"/>
              <a:t>has the </a:t>
            </a:r>
            <a:r>
              <a:rPr lang="en-IN" b="1" dirty="0"/>
              <a:t>lowest churn rate</a:t>
            </a:r>
            <a:r>
              <a:rPr lang="en-IN" dirty="0"/>
              <a:t>. While age group </a:t>
            </a:r>
            <a:r>
              <a:rPr lang="en-IN" b="1" dirty="0"/>
              <a:t>31-50 holds </a:t>
            </a:r>
            <a:r>
              <a:rPr lang="en-IN" dirty="0"/>
              <a:t>about </a:t>
            </a:r>
            <a:r>
              <a:rPr lang="en-IN" b="1" dirty="0"/>
              <a:t>68% of total customers</a:t>
            </a:r>
            <a:r>
              <a:rPr lang="en-IN" dirty="0"/>
              <a:t>.</a:t>
            </a:r>
          </a:p>
        </p:txBody>
      </p:sp>
      <p:pic>
        <p:nvPicPr>
          <p:cNvPr id="5" name="Picture 4">
            <a:extLst>
              <a:ext uri="{FF2B5EF4-FFF2-40B4-BE49-F238E27FC236}">
                <a16:creationId xmlns:a16="http://schemas.microsoft.com/office/drawing/2014/main" id="{2725FDA6-742B-168D-6E63-4E54C61BB9C6}"/>
              </a:ext>
            </a:extLst>
          </p:cNvPr>
          <p:cNvPicPr>
            <a:picLocks noChangeAspect="1"/>
          </p:cNvPicPr>
          <p:nvPr/>
        </p:nvPicPr>
        <p:blipFill>
          <a:blip r:embed="rId2"/>
          <a:stretch>
            <a:fillRect/>
          </a:stretch>
        </p:blipFill>
        <p:spPr>
          <a:xfrm>
            <a:off x="4598056" y="1031922"/>
            <a:ext cx="2995888" cy="4258200"/>
          </a:xfrm>
          <a:prstGeom prst="rect">
            <a:avLst/>
          </a:prstGeom>
        </p:spPr>
      </p:pic>
    </p:spTree>
    <p:extLst>
      <p:ext uri="{BB962C8B-B14F-4D97-AF65-F5344CB8AC3E}">
        <p14:creationId xmlns:p14="http://schemas.microsoft.com/office/powerpoint/2010/main" val="3843051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82149-0265-6EB5-E0AC-4393B1198F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4C181AC-6DCD-BE1D-DEAE-978BB1077880}"/>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Demographical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1B9BDFE9-6355-5A7A-A86B-56BC5CD8D669}"/>
              </a:ext>
            </a:extLst>
          </p:cNvPr>
          <p:cNvSpPr txBox="1"/>
          <p:nvPr/>
        </p:nvSpPr>
        <p:spPr>
          <a:xfrm>
            <a:off x="1037518" y="5335455"/>
            <a:ext cx="10116962" cy="923330"/>
          </a:xfrm>
          <a:prstGeom prst="rect">
            <a:avLst/>
          </a:prstGeom>
          <a:noFill/>
          <a:ln w="19050">
            <a:solidFill>
              <a:schemeClr val="accent1">
                <a:lumMod val="75000"/>
              </a:schemeClr>
            </a:solidFill>
            <a:prstDash val="dash"/>
          </a:ln>
        </p:spPr>
        <p:txBody>
          <a:bodyPr wrap="square">
            <a:spAutoFit/>
          </a:bodyPr>
          <a:lstStyle/>
          <a:p>
            <a:pPr algn="ctr"/>
            <a:r>
              <a:rPr lang="en-IN" dirty="0"/>
              <a:t>There are </a:t>
            </a:r>
            <a:r>
              <a:rPr lang="en-IN" b="1" dirty="0"/>
              <a:t>approximately. 10% more Male customers </a:t>
            </a:r>
            <a:r>
              <a:rPr lang="en-IN" dirty="0"/>
              <a:t>as compared </a:t>
            </a:r>
            <a:r>
              <a:rPr lang="en-IN" b="1" dirty="0"/>
              <a:t>to Female customers</a:t>
            </a:r>
            <a:r>
              <a:rPr lang="en-IN" dirty="0"/>
              <a:t>. But </a:t>
            </a:r>
            <a:r>
              <a:rPr lang="en-IN" b="1" dirty="0"/>
              <a:t>churn rate is higher in Female</a:t>
            </a:r>
            <a:r>
              <a:rPr lang="en-IN" dirty="0"/>
              <a:t> customers as compared to Male customers </a:t>
            </a:r>
            <a:r>
              <a:rPr lang="en-IN" b="1" dirty="0"/>
              <a:t>by 10%. Females</a:t>
            </a:r>
            <a:r>
              <a:rPr lang="en-IN" dirty="0"/>
              <a:t> have a </a:t>
            </a:r>
            <a:r>
              <a:rPr lang="en-IN" b="1" dirty="0"/>
              <a:t>higher average income</a:t>
            </a:r>
            <a:r>
              <a:rPr lang="en-IN" dirty="0"/>
              <a:t> in comparison to Males.</a:t>
            </a:r>
            <a:endParaRPr lang="en-IN" b="1" dirty="0"/>
          </a:p>
        </p:txBody>
      </p:sp>
      <p:pic>
        <p:nvPicPr>
          <p:cNvPr id="4" name="Picture 3">
            <a:extLst>
              <a:ext uri="{FF2B5EF4-FFF2-40B4-BE49-F238E27FC236}">
                <a16:creationId xmlns:a16="http://schemas.microsoft.com/office/drawing/2014/main" id="{F8FF3209-2488-D4D8-AD6E-30EC6657F3D0}"/>
              </a:ext>
            </a:extLst>
          </p:cNvPr>
          <p:cNvPicPr>
            <a:picLocks noChangeAspect="1"/>
          </p:cNvPicPr>
          <p:nvPr/>
        </p:nvPicPr>
        <p:blipFill>
          <a:blip r:embed="rId2"/>
          <a:stretch>
            <a:fillRect/>
          </a:stretch>
        </p:blipFill>
        <p:spPr>
          <a:xfrm>
            <a:off x="4419528" y="1050370"/>
            <a:ext cx="3352943" cy="4029903"/>
          </a:xfrm>
          <a:prstGeom prst="rect">
            <a:avLst/>
          </a:prstGeom>
        </p:spPr>
      </p:pic>
    </p:spTree>
    <p:extLst>
      <p:ext uri="{BB962C8B-B14F-4D97-AF65-F5344CB8AC3E}">
        <p14:creationId xmlns:p14="http://schemas.microsoft.com/office/powerpoint/2010/main" val="3328521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DCA6F-95C2-ACD7-B974-08BA38B8275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5B8560-8260-B224-6D03-AE42948BA674}"/>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Lifetime Value Analysis</a:t>
            </a:r>
            <a:endParaRPr lang="en-IN" sz="3200" b="1" dirty="0">
              <a:solidFill>
                <a:schemeClr val="bg1"/>
              </a:solidFill>
            </a:endParaRPr>
          </a:p>
        </p:txBody>
      </p:sp>
      <p:sp>
        <p:nvSpPr>
          <p:cNvPr id="6" name="TextBox 5">
            <a:extLst>
              <a:ext uri="{FF2B5EF4-FFF2-40B4-BE49-F238E27FC236}">
                <a16:creationId xmlns:a16="http://schemas.microsoft.com/office/drawing/2014/main" id="{90B193B0-3480-8D60-679A-219A5E072E01}"/>
              </a:ext>
            </a:extLst>
          </p:cNvPr>
          <p:cNvSpPr txBox="1"/>
          <p:nvPr/>
        </p:nvSpPr>
        <p:spPr>
          <a:xfrm>
            <a:off x="1037517" y="4978183"/>
            <a:ext cx="10116962" cy="1200329"/>
          </a:xfrm>
          <a:prstGeom prst="rect">
            <a:avLst/>
          </a:prstGeom>
          <a:noFill/>
          <a:ln w="19050">
            <a:solidFill>
              <a:schemeClr val="accent1">
                <a:lumMod val="75000"/>
              </a:schemeClr>
            </a:solidFill>
            <a:prstDash val="dash"/>
          </a:ln>
        </p:spPr>
        <p:txBody>
          <a:bodyPr wrap="square">
            <a:spAutoFit/>
          </a:bodyPr>
          <a:lstStyle/>
          <a:p>
            <a:pPr algn="ctr"/>
            <a:r>
              <a:rPr lang="en-IN" dirty="0"/>
              <a:t>There is a </a:t>
            </a:r>
            <a:r>
              <a:rPr lang="en-IN" b="1" dirty="0"/>
              <a:t>growing trend of customers </a:t>
            </a:r>
            <a:r>
              <a:rPr lang="en-IN" dirty="0"/>
              <a:t>joining. From the </a:t>
            </a:r>
            <a:r>
              <a:rPr lang="en-IN" b="1" dirty="0"/>
              <a:t>middle of Quarter 3 to the end of Quarter 4</a:t>
            </a:r>
            <a:r>
              <a:rPr lang="en-IN" dirty="0"/>
              <a:t>, there is a </a:t>
            </a:r>
            <a:r>
              <a:rPr lang="en-IN" b="1" dirty="0"/>
              <a:t>steep increase </a:t>
            </a:r>
            <a:r>
              <a:rPr lang="en-IN" dirty="0"/>
              <a:t>in the number of </a:t>
            </a:r>
            <a:r>
              <a:rPr lang="en-IN" b="1" dirty="0"/>
              <a:t>customers joining</a:t>
            </a:r>
            <a:r>
              <a:rPr lang="en-IN" dirty="0"/>
              <a:t>. </a:t>
            </a:r>
            <a:r>
              <a:rPr lang="en-IN" b="1" dirty="0"/>
              <a:t>2017</a:t>
            </a:r>
            <a:r>
              <a:rPr lang="en-IN" dirty="0"/>
              <a:t> is the year that witnessed a </a:t>
            </a:r>
            <a:r>
              <a:rPr lang="en-IN" b="1" dirty="0"/>
              <a:t>large number of churned people </a:t>
            </a:r>
            <a:r>
              <a:rPr lang="en-IN" dirty="0"/>
              <a:t>in starting as well as end of year. There is a </a:t>
            </a:r>
            <a:r>
              <a:rPr lang="en-IN" b="1" dirty="0"/>
              <a:t>high churn </a:t>
            </a:r>
            <a:r>
              <a:rPr lang="en-IN" dirty="0"/>
              <a:t>in the month of </a:t>
            </a:r>
            <a:r>
              <a:rPr lang="en-IN" b="1" dirty="0"/>
              <a:t>January</a:t>
            </a:r>
            <a:r>
              <a:rPr lang="en-IN" dirty="0"/>
              <a:t> across all years. Highlighted yellow bars indicate churn greater than the average churn of 20.37% </a:t>
            </a:r>
            <a:endParaRPr lang="en-IN" b="1" dirty="0"/>
          </a:p>
        </p:txBody>
      </p:sp>
      <p:pic>
        <p:nvPicPr>
          <p:cNvPr id="5" name="Picture 4">
            <a:extLst>
              <a:ext uri="{FF2B5EF4-FFF2-40B4-BE49-F238E27FC236}">
                <a16:creationId xmlns:a16="http://schemas.microsoft.com/office/drawing/2014/main" id="{33D99D73-231A-4554-3822-828C12A0EB92}"/>
              </a:ext>
            </a:extLst>
          </p:cNvPr>
          <p:cNvPicPr>
            <a:picLocks noChangeAspect="1"/>
          </p:cNvPicPr>
          <p:nvPr/>
        </p:nvPicPr>
        <p:blipFill>
          <a:blip r:embed="rId2"/>
          <a:stretch>
            <a:fillRect/>
          </a:stretch>
        </p:blipFill>
        <p:spPr>
          <a:xfrm>
            <a:off x="642175" y="1380179"/>
            <a:ext cx="10907647" cy="3400900"/>
          </a:xfrm>
          <a:prstGeom prst="rect">
            <a:avLst/>
          </a:prstGeom>
        </p:spPr>
      </p:pic>
    </p:spTree>
    <p:extLst>
      <p:ext uri="{BB962C8B-B14F-4D97-AF65-F5344CB8AC3E}">
        <p14:creationId xmlns:p14="http://schemas.microsoft.com/office/powerpoint/2010/main" val="940784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9DDB7-0DE2-255E-CC71-1EBD873AEA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3638B9-0D0A-9D3C-16AE-C701CBC3BB4F}"/>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Lifetime Value Analysis</a:t>
            </a:r>
            <a:endParaRPr lang="en-IN" sz="3200" b="1" dirty="0">
              <a:solidFill>
                <a:schemeClr val="bg1"/>
              </a:solidFill>
            </a:endParaRPr>
          </a:p>
        </p:txBody>
      </p:sp>
      <p:sp>
        <p:nvSpPr>
          <p:cNvPr id="6" name="TextBox 5">
            <a:extLst>
              <a:ext uri="{FF2B5EF4-FFF2-40B4-BE49-F238E27FC236}">
                <a16:creationId xmlns:a16="http://schemas.microsoft.com/office/drawing/2014/main" id="{30196979-364E-34A8-2E9D-4E9E28472CF8}"/>
              </a:ext>
            </a:extLst>
          </p:cNvPr>
          <p:cNvSpPr txBox="1"/>
          <p:nvPr/>
        </p:nvSpPr>
        <p:spPr>
          <a:xfrm>
            <a:off x="1037517" y="4978183"/>
            <a:ext cx="10116962" cy="923330"/>
          </a:xfrm>
          <a:prstGeom prst="rect">
            <a:avLst/>
          </a:prstGeom>
          <a:noFill/>
          <a:ln w="19050">
            <a:solidFill>
              <a:schemeClr val="accent1">
                <a:lumMod val="75000"/>
              </a:schemeClr>
            </a:solidFill>
            <a:prstDash val="dash"/>
          </a:ln>
        </p:spPr>
        <p:txBody>
          <a:bodyPr wrap="square">
            <a:spAutoFit/>
          </a:bodyPr>
          <a:lstStyle/>
          <a:p>
            <a:pPr algn="ctr"/>
            <a:r>
              <a:rPr lang="en-IN" dirty="0"/>
              <a:t>The following are the comparisons of major factors against the average churn rate. Customers having </a:t>
            </a:r>
            <a:r>
              <a:rPr lang="en-IN" b="1" dirty="0"/>
              <a:t>2 products</a:t>
            </a:r>
            <a:r>
              <a:rPr lang="en-IN" dirty="0"/>
              <a:t> have the </a:t>
            </a:r>
            <a:r>
              <a:rPr lang="en-IN" b="1" dirty="0"/>
              <a:t>lowest churn rate</a:t>
            </a:r>
            <a:r>
              <a:rPr lang="en-IN" dirty="0"/>
              <a:t>. Age </a:t>
            </a:r>
            <a:r>
              <a:rPr lang="en-IN" b="1" dirty="0"/>
              <a:t>group 18-30 </a:t>
            </a:r>
            <a:r>
              <a:rPr lang="en-IN" dirty="0"/>
              <a:t>has the </a:t>
            </a:r>
            <a:r>
              <a:rPr lang="en-IN" b="1" dirty="0"/>
              <a:t>lowest churn rate</a:t>
            </a:r>
            <a:r>
              <a:rPr lang="en-IN" dirty="0"/>
              <a:t>, and Income groups </a:t>
            </a:r>
            <a:r>
              <a:rPr lang="en-IN" b="1" dirty="0"/>
              <a:t>&gt;150K and 50K-75K </a:t>
            </a:r>
            <a:r>
              <a:rPr lang="en-IN" dirty="0"/>
              <a:t>have a slightly </a:t>
            </a:r>
            <a:r>
              <a:rPr lang="en-IN" b="1" dirty="0"/>
              <a:t>higher churn rate</a:t>
            </a:r>
            <a:r>
              <a:rPr lang="en-IN" dirty="0"/>
              <a:t>.</a:t>
            </a:r>
            <a:endParaRPr lang="en-IN" b="1" dirty="0"/>
          </a:p>
        </p:txBody>
      </p:sp>
      <p:pic>
        <p:nvPicPr>
          <p:cNvPr id="4" name="Picture 3">
            <a:extLst>
              <a:ext uri="{FF2B5EF4-FFF2-40B4-BE49-F238E27FC236}">
                <a16:creationId xmlns:a16="http://schemas.microsoft.com/office/drawing/2014/main" id="{244951D6-E84F-D62A-67D3-D5F26F01E49A}"/>
              </a:ext>
            </a:extLst>
          </p:cNvPr>
          <p:cNvPicPr>
            <a:picLocks noChangeAspect="1"/>
          </p:cNvPicPr>
          <p:nvPr/>
        </p:nvPicPr>
        <p:blipFill>
          <a:blip r:embed="rId2"/>
          <a:stretch>
            <a:fillRect/>
          </a:stretch>
        </p:blipFill>
        <p:spPr>
          <a:xfrm>
            <a:off x="471462" y="1480230"/>
            <a:ext cx="11249076" cy="2703939"/>
          </a:xfrm>
          <a:prstGeom prst="rect">
            <a:avLst/>
          </a:prstGeom>
        </p:spPr>
      </p:pic>
    </p:spTree>
    <p:extLst>
      <p:ext uri="{BB962C8B-B14F-4D97-AF65-F5344CB8AC3E}">
        <p14:creationId xmlns:p14="http://schemas.microsoft.com/office/powerpoint/2010/main" val="2592042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B8A1-8A92-CE7D-DBC2-0A5B21BDB7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3C17C0-B921-EB27-38EA-A02DF7AC2D97}"/>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FINDING PHASE</a:t>
            </a:r>
            <a:endParaRPr lang="en-IN" sz="6000" b="1" dirty="0">
              <a:solidFill>
                <a:schemeClr val="accent2"/>
              </a:solidFill>
            </a:endParaRPr>
          </a:p>
        </p:txBody>
      </p:sp>
    </p:spTree>
    <p:extLst>
      <p:ext uri="{BB962C8B-B14F-4D97-AF65-F5344CB8AC3E}">
        <p14:creationId xmlns:p14="http://schemas.microsoft.com/office/powerpoint/2010/main" val="519418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84D5A-8F99-1296-CDEC-05069916FD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0D988C-450C-AA66-79BB-5DC42DDEEF11}"/>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Drivers of Churn Rate</a:t>
            </a:r>
            <a:endParaRPr lang="en-IN" sz="3200" b="1" dirty="0">
              <a:solidFill>
                <a:schemeClr val="bg1"/>
              </a:solidFill>
            </a:endParaRPr>
          </a:p>
        </p:txBody>
      </p:sp>
      <p:graphicFrame>
        <p:nvGraphicFramePr>
          <p:cNvPr id="6" name="Diagram 5">
            <a:extLst>
              <a:ext uri="{FF2B5EF4-FFF2-40B4-BE49-F238E27FC236}">
                <a16:creationId xmlns:a16="http://schemas.microsoft.com/office/drawing/2014/main" id="{EA724E85-EB9C-650D-66F3-D8C3E51E61C8}"/>
              </a:ext>
            </a:extLst>
          </p:cNvPr>
          <p:cNvGraphicFramePr/>
          <p:nvPr>
            <p:extLst>
              <p:ext uri="{D42A27DB-BD31-4B8C-83A1-F6EECF244321}">
                <p14:modId xmlns:p14="http://schemas.microsoft.com/office/powerpoint/2010/main" val="3466192678"/>
              </p:ext>
            </p:extLst>
          </p:nvPr>
        </p:nvGraphicFramePr>
        <p:xfrm>
          <a:off x="162911" y="1008992"/>
          <a:ext cx="11866178" cy="5244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6130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3C78E-DD91-A53F-E42F-5D7E124681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0733D4-0DBE-0B4D-48A5-FB29558519F4}"/>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Strategic Suggestions</a:t>
            </a:r>
            <a:endParaRPr lang="en-IN" sz="3200" b="1" dirty="0">
              <a:solidFill>
                <a:schemeClr val="bg1"/>
              </a:solidFill>
            </a:endParaRPr>
          </a:p>
        </p:txBody>
      </p:sp>
      <p:pic>
        <p:nvPicPr>
          <p:cNvPr id="5" name="Picture 4">
            <a:extLst>
              <a:ext uri="{FF2B5EF4-FFF2-40B4-BE49-F238E27FC236}">
                <a16:creationId xmlns:a16="http://schemas.microsoft.com/office/drawing/2014/main" id="{041E525F-68E7-C45D-9647-5F9FA3884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302" y="5380911"/>
            <a:ext cx="810000" cy="810000"/>
          </a:xfrm>
          <a:prstGeom prst="rect">
            <a:avLst/>
          </a:prstGeom>
        </p:spPr>
      </p:pic>
      <p:pic>
        <p:nvPicPr>
          <p:cNvPr id="7" name="Picture 6">
            <a:extLst>
              <a:ext uri="{FF2B5EF4-FFF2-40B4-BE49-F238E27FC236}">
                <a16:creationId xmlns:a16="http://schemas.microsoft.com/office/drawing/2014/main" id="{2FCEA8B9-3A75-55EF-EFE5-B5DE96FFF2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302" y="1072089"/>
            <a:ext cx="810000" cy="810000"/>
          </a:xfrm>
          <a:prstGeom prst="rect">
            <a:avLst/>
          </a:prstGeom>
        </p:spPr>
      </p:pic>
      <p:pic>
        <p:nvPicPr>
          <p:cNvPr id="9" name="Picture 8">
            <a:extLst>
              <a:ext uri="{FF2B5EF4-FFF2-40B4-BE49-F238E27FC236}">
                <a16:creationId xmlns:a16="http://schemas.microsoft.com/office/drawing/2014/main" id="{DE600E02-F83C-AD9D-93AF-620EAD4DAA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302" y="4303707"/>
            <a:ext cx="810000" cy="810000"/>
          </a:xfrm>
          <a:prstGeom prst="rect">
            <a:avLst/>
          </a:prstGeom>
        </p:spPr>
      </p:pic>
      <p:pic>
        <p:nvPicPr>
          <p:cNvPr id="11" name="Picture 10">
            <a:extLst>
              <a:ext uri="{FF2B5EF4-FFF2-40B4-BE49-F238E27FC236}">
                <a16:creationId xmlns:a16="http://schemas.microsoft.com/office/drawing/2014/main" id="{3C79BD2B-1A8A-ED70-6E0F-2A7220B2C0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302" y="2149295"/>
            <a:ext cx="810000" cy="810000"/>
          </a:xfrm>
          <a:prstGeom prst="rect">
            <a:avLst/>
          </a:prstGeom>
        </p:spPr>
      </p:pic>
      <p:pic>
        <p:nvPicPr>
          <p:cNvPr id="13" name="Picture 12">
            <a:extLst>
              <a:ext uri="{FF2B5EF4-FFF2-40B4-BE49-F238E27FC236}">
                <a16:creationId xmlns:a16="http://schemas.microsoft.com/office/drawing/2014/main" id="{9FB4005A-336C-1D97-F6CA-A9422A6BE0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5302" y="3226501"/>
            <a:ext cx="810000" cy="810000"/>
          </a:xfrm>
          <a:prstGeom prst="rect">
            <a:avLst/>
          </a:prstGeom>
        </p:spPr>
      </p:pic>
      <p:sp>
        <p:nvSpPr>
          <p:cNvPr id="14" name="TextBox 13">
            <a:extLst>
              <a:ext uri="{FF2B5EF4-FFF2-40B4-BE49-F238E27FC236}">
                <a16:creationId xmlns:a16="http://schemas.microsoft.com/office/drawing/2014/main" id="{C73877D9-9FE9-850D-5402-2295F5362B8A}"/>
              </a:ext>
            </a:extLst>
          </p:cNvPr>
          <p:cNvSpPr txBox="1"/>
          <p:nvPr/>
        </p:nvSpPr>
        <p:spPr>
          <a:xfrm>
            <a:off x="1681653" y="1077338"/>
            <a:ext cx="3373823" cy="810000"/>
          </a:xfrm>
          <a:prstGeom prst="rect">
            <a:avLst/>
          </a:prstGeom>
          <a:noFill/>
          <a:ln w="19050">
            <a:solidFill>
              <a:schemeClr val="accent1"/>
            </a:solidFill>
            <a:prstDash val="dash"/>
          </a:ln>
        </p:spPr>
        <p:txBody>
          <a:bodyPr wrap="square">
            <a:spAutoFit/>
          </a:bodyPr>
          <a:lstStyle/>
          <a:p>
            <a:endParaRPr lang="en-IN" sz="1400" dirty="0"/>
          </a:p>
        </p:txBody>
      </p:sp>
      <p:sp>
        <p:nvSpPr>
          <p:cNvPr id="20" name="TextBox 19">
            <a:extLst>
              <a:ext uri="{FF2B5EF4-FFF2-40B4-BE49-F238E27FC236}">
                <a16:creationId xmlns:a16="http://schemas.microsoft.com/office/drawing/2014/main" id="{96EE5830-B084-2D9F-2C6D-E6DF09DDACD1}"/>
              </a:ext>
            </a:extLst>
          </p:cNvPr>
          <p:cNvSpPr txBox="1"/>
          <p:nvPr/>
        </p:nvSpPr>
        <p:spPr>
          <a:xfrm>
            <a:off x="1870840" y="1187326"/>
            <a:ext cx="2995448" cy="584775"/>
          </a:xfrm>
          <a:prstGeom prst="rect">
            <a:avLst/>
          </a:prstGeom>
          <a:noFill/>
        </p:spPr>
        <p:txBody>
          <a:bodyPr wrap="square">
            <a:spAutoFit/>
          </a:bodyPr>
          <a:lstStyle/>
          <a:p>
            <a:pPr algn="ctr"/>
            <a:r>
              <a:rPr lang="en-IN" sz="1600" b="1" dirty="0">
                <a:solidFill>
                  <a:schemeClr val="accent1"/>
                </a:solidFill>
                <a:latin typeface="Helvetica" pitchFamily="2" charset="0"/>
              </a:rPr>
              <a:t>Handling the No. of Products parameter</a:t>
            </a:r>
            <a:endParaRPr lang="en-IN" sz="1600" b="1" dirty="0">
              <a:solidFill>
                <a:schemeClr val="accent1"/>
              </a:solidFill>
            </a:endParaRPr>
          </a:p>
        </p:txBody>
      </p:sp>
      <p:sp>
        <p:nvSpPr>
          <p:cNvPr id="23" name="TextBox 22">
            <a:extLst>
              <a:ext uri="{FF2B5EF4-FFF2-40B4-BE49-F238E27FC236}">
                <a16:creationId xmlns:a16="http://schemas.microsoft.com/office/drawing/2014/main" id="{C3BA2989-8A49-4B19-304D-C2CF22DE8281}"/>
              </a:ext>
            </a:extLst>
          </p:cNvPr>
          <p:cNvSpPr txBox="1"/>
          <p:nvPr/>
        </p:nvSpPr>
        <p:spPr>
          <a:xfrm>
            <a:off x="1681655" y="5386159"/>
            <a:ext cx="3373820" cy="810000"/>
          </a:xfrm>
          <a:prstGeom prst="rect">
            <a:avLst/>
          </a:prstGeom>
          <a:noFill/>
          <a:ln w="19050">
            <a:solidFill>
              <a:schemeClr val="accent1"/>
            </a:solidFill>
            <a:prstDash val="dash"/>
          </a:ln>
        </p:spPr>
        <p:txBody>
          <a:bodyPr wrap="square">
            <a:spAutoFit/>
          </a:bodyPr>
          <a:lstStyle/>
          <a:p>
            <a:endParaRPr lang="en-IN" sz="1400" dirty="0"/>
          </a:p>
        </p:txBody>
      </p:sp>
      <p:sp>
        <p:nvSpPr>
          <p:cNvPr id="24" name="TextBox 23">
            <a:extLst>
              <a:ext uri="{FF2B5EF4-FFF2-40B4-BE49-F238E27FC236}">
                <a16:creationId xmlns:a16="http://schemas.microsoft.com/office/drawing/2014/main" id="{D7CA4D63-B940-AE60-57F2-53D34283D041}"/>
              </a:ext>
            </a:extLst>
          </p:cNvPr>
          <p:cNvSpPr txBox="1"/>
          <p:nvPr/>
        </p:nvSpPr>
        <p:spPr>
          <a:xfrm>
            <a:off x="1860329" y="5498772"/>
            <a:ext cx="3005959" cy="584775"/>
          </a:xfrm>
          <a:prstGeom prst="rect">
            <a:avLst/>
          </a:prstGeom>
          <a:noFill/>
        </p:spPr>
        <p:txBody>
          <a:bodyPr wrap="square">
            <a:spAutoFit/>
          </a:bodyPr>
          <a:lstStyle/>
          <a:p>
            <a:pPr algn="ctr"/>
            <a:r>
              <a:rPr lang="en-IN" sz="1600" b="1" dirty="0">
                <a:solidFill>
                  <a:schemeClr val="accent1"/>
                </a:solidFill>
                <a:latin typeface="Helvetica" pitchFamily="2" charset="0"/>
              </a:rPr>
              <a:t>Handling the Gender parameter</a:t>
            </a:r>
            <a:endParaRPr lang="en-IN" sz="1600" b="1" dirty="0">
              <a:solidFill>
                <a:schemeClr val="accent1"/>
              </a:solidFill>
            </a:endParaRPr>
          </a:p>
        </p:txBody>
      </p:sp>
      <p:sp>
        <p:nvSpPr>
          <p:cNvPr id="26" name="TextBox 25">
            <a:extLst>
              <a:ext uri="{FF2B5EF4-FFF2-40B4-BE49-F238E27FC236}">
                <a16:creationId xmlns:a16="http://schemas.microsoft.com/office/drawing/2014/main" id="{C3F63F95-A435-44A0-1122-0DA105F2AD22}"/>
              </a:ext>
            </a:extLst>
          </p:cNvPr>
          <p:cNvSpPr txBox="1"/>
          <p:nvPr/>
        </p:nvSpPr>
        <p:spPr>
          <a:xfrm>
            <a:off x="1681654" y="4303707"/>
            <a:ext cx="3373821" cy="810000"/>
          </a:xfrm>
          <a:prstGeom prst="rect">
            <a:avLst/>
          </a:prstGeom>
          <a:noFill/>
          <a:ln w="19050">
            <a:solidFill>
              <a:schemeClr val="accent1"/>
            </a:solidFill>
            <a:prstDash val="dash"/>
          </a:ln>
        </p:spPr>
        <p:txBody>
          <a:bodyPr wrap="square">
            <a:spAutoFit/>
          </a:bodyPr>
          <a:lstStyle/>
          <a:p>
            <a:endParaRPr lang="en-IN" sz="1400" dirty="0"/>
          </a:p>
        </p:txBody>
      </p:sp>
      <p:sp>
        <p:nvSpPr>
          <p:cNvPr id="27" name="TextBox 26">
            <a:extLst>
              <a:ext uri="{FF2B5EF4-FFF2-40B4-BE49-F238E27FC236}">
                <a16:creationId xmlns:a16="http://schemas.microsoft.com/office/drawing/2014/main" id="{3AAFA31B-D882-9A27-1807-B3E1F7715CB1}"/>
              </a:ext>
            </a:extLst>
          </p:cNvPr>
          <p:cNvSpPr txBox="1"/>
          <p:nvPr/>
        </p:nvSpPr>
        <p:spPr>
          <a:xfrm>
            <a:off x="1860330" y="4421566"/>
            <a:ext cx="3005958" cy="584775"/>
          </a:xfrm>
          <a:prstGeom prst="rect">
            <a:avLst/>
          </a:prstGeom>
          <a:noFill/>
        </p:spPr>
        <p:txBody>
          <a:bodyPr wrap="square">
            <a:spAutoFit/>
          </a:bodyPr>
          <a:lstStyle/>
          <a:p>
            <a:pPr algn="ctr"/>
            <a:r>
              <a:rPr lang="en-IN" sz="1600" b="1" dirty="0">
                <a:solidFill>
                  <a:schemeClr val="accent1"/>
                </a:solidFill>
                <a:latin typeface="Helvetica" pitchFamily="2" charset="0"/>
              </a:rPr>
              <a:t>Handling User Activity parameter </a:t>
            </a:r>
            <a:endParaRPr lang="en-IN" sz="1600" b="1" dirty="0">
              <a:solidFill>
                <a:schemeClr val="accent1"/>
              </a:solidFill>
            </a:endParaRPr>
          </a:p>
        </p:txBody>
      </p:sp>
      <p:sp>
        <p:nvSpPr>
          <p:cNvPr id="29" name="TextBox 28">
            <a:extLst>
              <a:ext uri="{FF2B5EF4-FFF2-40B4-BE49-F238E27FC236}">
                <a16:creationId xmlns:a16="http://schemas.microsoft.com/office/drawing/2014/main" id="{018E05A6-5B59-17B6-0E37-8A1F9C1752E7}"/>
              </a:ext>
            </a:extLst>
          </p:cNvPr>
          <p:cNvSpPr txBox="1"/>
          <p:nvPr/>
        </p:nvSpPr>
        <p:spPr>
          <a:xfrm>
            <a:off x="1681653" y="3226500"/>
            <a:ext cx="3373822" cy="810000"/>
          </a:xfrm>
          <a:prstGeom prst="rect">
            <a:avLst/>
          </a:prstGeom>
          <a:noFill/>
          <a:ln w="19050">
            <a:solidFill>
              <a:schemeClr val="accent1"/>
            </a:solidFill>
            <a:prstDash val="dash"/>
          </a:ln>
        </p:spPr>
        <p:txBody>
          <a:bodyPr wrap="square">
            <a:spAutoFit/>
          </a:bodyPr>
          <a:lstStyle/>
          <a:p>
            <a:endParaRPr lang="en-IN" sz="1400" dirty="0"/>
          </a:p>
        </p:txBody>
      </p:sp>
      <p:sp>
        <p:nvSpPr>
          <p:cNvPr id="30" name="TextBox 29">
            <a:extLst>
              <a:ext uri="{FF2B5EF4-FFF2-40B4-BE49-F238E27FC236}">
                <a16:creationId xmlns:a16="http://schemas.microsoft.com/office/drawing/2014/main" id="{05B879C1-B507-F128-B568-D17CC8855A54}"/>
              </a:ext>
            </a:extLst>
          </p:cNvPr>
          <p:cNvSpPr txBox="1"/>
          <p:nvPr/>
        </p:nvSpPr>
        <p:spPr>
          <a:xfrm>
            <a:off x="1860329" y="3344361"/>
            <a:ext cx="3005959" cy="584775"/>
          </a:xfrm>
          <a:prstGeom prst="rect">
            <a:avLst/>
          </a:prstGeom>
          <a:noFill/>
        </p:spPr>
        <p:txBody>
          <a:bodyPr wrap="square">
            <a:spAutoFit/>
          </a:bodyPr>
          <a:lstStyle/>
          <a:p>
            <a:pPr algn="ctr"/>
            <a:r>
              <a:rPr lang="en-IN" sz="1600" b="1" dirty="0">
                <a:solidFill>
                  <a:schemeClr val="accent1"/>
                </a:solidFill>
                <a:latin typeface="Helvetica" pitchFamily="2" charset="0"/>
              </a:rPr>
              <a:t>Handling Location parameter</a:t>
            </a:r>
            <a:endParaRPr lang="en-IN" sz="1600" b="1" dirty="0">
              <a:solidFill>
                <a:schemeClr val="accent1"/>
              </a:solidFill>
            </a:endParaRPr>
          </a:p>
        </p:txBody>
      </p:sp>
      <p:sp>
        <p:nvSpPr>
          <p:cNvPr id="32" name="TextBox 31">
            <a:extLst>
              <a:ext uri="{FF2B5EF4-FFF2-40B4-BE49-F238E27FC236}">
                <a16:creationId xmlns:a16="http://schemas.microsoft.com/office/drawing/2014/main" id="{7FEF96CF-325F-DE0D-811E-CC2E62756A26}"/>
              </a:ext>
            </a:extLst>
          </p:cNvPr>
          <p:cNvSpPr txBox="1"/>
          <p:nvPr/>
        </p:nvSpPr>
        <p:spPr>
          <a:xfrm>
            <a:off x="1681652" y="2154543"/>
            <a:ext cx="3373823" cy="810000"/>
          </a:xfrm>
          <a:prstGeom prst="rect">
            <a:avLst/>
          </a:prstGeom>
          <a:noFill/>
          <a:ln w="19050">
            <a:solidFill>
              <a:schemeClr val="accent1"/>
            </a:solidFill>
            <a:prstDash val="dash"/>
          </a:ln>
        </p:spPr>
        <p:txBody>
          <a:bodyPr wrap="square">
            <a:spAutoFit/>
          </a:bodyPr>
          <a:lstStyle/>
          <a:p>
            <a:endParaRPr lang="en-IN" sz="1400" dirty="0"/>
          </a:p>
        </p:txBody>
      </p:sp>
      <p:sp>
        <p:nvSpPr>
          <p:cNvPr id="33" name="TextBox 32">
            <a:extLst>
              <a:ext uri="{FF2B5EF4-FFF2-40B4-BE49-F238E27FC236}">
                <a16:creationId xmlns:a16="http://schemas.microsoft.com/office/drawing/2014/main" id="{B52B4322-D472-4346-CE64-96D7BE8A786F}"/>
              </a:ext>
            </a:extLst>
          </p:cNvPr>
          <p:cNvSpPr txBox="1"/>
          <p:nvPr/>
        </p:nvSpPr>
        <p:spPr>
          <a:xfrm>
            <a:off x="1870840" y="2267156"/>
            <a:ext cx="2995448" cy="584775"/>
          </a:xfrm>
          <a:prstGeom prst="rect">
            <a:avLst/>
          </a:prstGeom>
          <a:noFill/>
        </p:spPr>
        <p:txBody>
          <a:bodyPr wrap="square">
            <a:spAutoFit/>
          </a:bodyPr>
          <a:lstStyle/>
          <a:p>
            <a:pPr algn="ctr"/>
            <a:r>
              <a:rPr lang="en-IN" sz="1600" b="1" dirty="0">
                <a:solidFill>
                  <a:schemeClr val="accent1"/>
                </a:solidFill>
                <a:latin typeface="Helvetica" pitchFamily="2" charset="0"/>
              </a:rPr>
              <a:t>Handling Age Group parameter  </a:t>
            </a:r>
            <a:endParaRPr lang="en-IN" sz="1600" b="1" dirty="0">
              <a:solidFill>
                <a:schemeClr val="accent1"/>
              </a:solidFill>
            </a:endParaRPr>
          </a:p>
        </p:txBody>
      </p:sp>
      <p:sp>
        <p:nvSpPr>
          <p:cNvPr id="2" name="TextBox 1">
            <a:extLst>
              <a:ext uri="{FF2B5EF4-FFF2-40B4-BE49-F238E27FC236}">
                <a16:creationId xmlns:a16="http://schemas.microsoft.com/office/drawing/2014/main" id="{5030657C-8F57-C679-C297-42F4D13F62A8}"/>
              </a:ext>
            </a:extLst>
          </p:cNvPr>
          <p:cNvSpPr txBox="1"/>
          <p:nvPr/>
        </p:nvSpPr>
        <p:spPr>
          <a:xfrm>
            <a:off x="5244663" y="1072089"/>
            <a:ext cx="6212035"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4" name="TextBox 3">
            <a:extLst>
              <a:ext uri="{FF2B5EF4-FFF2-40B4-BE49-F238E27FC236}">
                <a16:creationId xmlns:a16="http://schemas.microsoft.com/office/drawing/2014/main" id="{76D8C804-54F4-FF58-AA0B-1FC315A58F86}"/>
              </a:ext>
            </a:extLst>
          </p:cNvPr>
          <p:cNvSpPr txBox="1"/>
          <p:nvPr/>
        </p:nvSpPr>
        <p:spPr>
          <a:xfrm>
            <a:off x="6096000" y="5380911"/>
            <a:ext cx="5360698" cy="810000"/>
          </a:xfrm>
          <a:prstGeom prst="rect">
            <a:avLst/>
          </a:prstGeom>
          <a:solidFill>
            <a:schemeClr val="accent1">
              <a:lumMod val="40000"/>
              <a:lumOff val="60000"/>
            </a:schemeClr>
          </a:solidFill>
          <a:ln w="19050">
            <a:noFill/>
            <a:prstDash val="dash"/>
          </a:ln>
        </p:spPr>
        <p:txBody>
          <a:bodyPr wrap="square">
            <a:spAutoFit/>
          </a:bodyPr>
          <a:lstStyle/>
          <a:p>
            <a:endParaRPr lang="en-IN" sz="1400" dirty="0"/>
          </a:p>
        </p:txBody>
      </p:sp>
      <p:sp>
        <p:nvSpPr>
          <p:cNvPr id="6" name="TextBox 5">
            <a:extLst>
              <a:ext uri="{FF2B5EF4-FFF2-40B4-BE49-F238E27FC236}">
                <a16:creationId xmlns:a16="http://schemas.microsoft.com/office/drawing/2014/main" id="{0441146A-43F9-3244-30F9-15019114A697}"/>
              </a:ext>
            </a:extLst>
          </p:cNvPr>
          <p:cNvSpPr txBox="1"/>
          <p:nvPr/>
        </p:nvSpPr>
        <p:spPr>
          <a:xfrm>
            <a:off x="5244663" y="4303707"/>
            <a:ext cx="6212035"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8" name="TextBox 7">
            <a:extLst>
              <a:ext uri="{FF2B5EF4-FFF2-40B4-BE49-F238E27FC236}">
                <a16:creationId xmlns:a16="http://schemas.microsoft.com/office/drawing/2014/main" id="{13169912-0F2B-425B-5F6F-3417EC0C285A}"/>
              </a:ext>
            </a:extLst>
          </p:cNvPr>
          <p:cNvSpPr txBox="1"/>
          <p:nvPr/>
        </p:nvSpPr>
        <p:spPr>
          <a:xfrm>
            <a:off x="6096000" y="8612529"/>
            <a:ext cx="5360698" cy="810000"/>
          </a:xfrm>
          <a:prstGeom prst="rect">
            <a:avLst/>
          </a:prstGeom>
          <a:solidFill>
            <a:schemeClr val="accent1">
              <a:lumMod val="40000"/>
              <a:lumOff val="60000"/>
            </a:schemeClr>
          </a:solidFill>
          <a:ln w="19050">
            <a:noFill/>
            <a:prstDash val="dash"/>
          </a:ln>
        </p:spPr>
        <p:txBody>
          <a:bodyPr wrap="square">
            <a:spAutoFit/>
          </a:bodyPr>
          <a:lstStyle/>
          <a:p>
            <a:endParaRPr lang="en-IN" sz="1400" dirty="0"/>
          </a:p>
        </p:txBody>
      </p:sp>
      <p:sp>
        <p:nvSpPr>
          <p:cNvPr id="10" name="TextBox 9">
            <a:extLst>
              <a:ext uri="{FF2B5EF4-FFF2-40B4-BE49-F238E27FC236}">
                <a16:creationId xmlns:a16="http://schemas.microsoft.com/office/drawing/2014/main" id="{21B52F37-6F79-1751-3FCC-723CC4BCCEC0}"/>
              </a:ext>
            </a:extLst>
          </p:cNvPr>
          <p:cNvSpPr txBox="1"/>
          <p:nvPr/>
        </p:nvSpPr>
        <p:spPr>
          <a:xfrm>
            <a:off x="5244663" y="2149295"/>
            <a:ext cx="6212035"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12" name="TextBox 11">
            <a:extLst>
              <a:ext uri="{FF2B5EF4-FFF2-40B4-BE49-F238E27FC236}">
                <a16:creationId xmlns:a16="http://schemas.microsoft.com/office/drawing/2014/main" id="{88D227C5-58F7-E39D-936F-0CCC8E22933A}"/>
              </a:ext>
            </a:extLst>
          </p:cNvPr>
          <p:cNvSpPr txBox="1"/>
          <p:nvPr/>
        </p:nvSpPr>
        <p:spPr>
          <a:xfrm>
            <a:off x="5244663" y="5380913"/>
            <a:ext cx="6212035"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15" name="TextBox 14">
            <a:extLst>
              <a:ext uri="{FF2B5EF4-FFF2-40B4-BE49-F238E27FC236}">
                <a16:creationId xmlns:a16="http://schemas.microsoft.com/office/drawing/2014/main" id="{601BA8DF-3379-75F1-0EC1-375BD00C1D47}"/>
              </a:ext>
            </a:extLst>
          </p:cNvPr>
          <p:cNvSpPr txBox="1"/>
          <p:nvPr/>
        </p:nvSpPr>
        <p:spPr>
          <a:xfrm>
            <a:off x="6096000" y="9689735"/>
            <a:ext cx="5360698" cy="810000"/>
          </a:xfrm>
          <a:prstGeom prst="rect">
            <a:avLst/>
          </a:prstGeom>
          <a:solidFill>
            <a:schemeClr val="accent1">
              <a:lumMod val="40000"/>
              <a:lumOff val="60000"/>
            </a:schemeClr>
          </a:solidFill>
          <a:ln w="19050">
            <a:noFill/>
            <a:prstDash val="dash"/>
          </a:ln>
        </p:spPr>
        <p:txBody>
          <a:bodyPr wrap="square">
            <a:spAutoFit/>
          </a:bodyPr>
          <a:lstStyle/>
          <a:p>
            <a:endParaRPr lang="en-IN" sz="1400" dirty="0"/>
          </a:p>
        </p:txBody>
      </p:sp>
      <p:sp>
        <p:nvSpPr>
          <p:cNvPr id="16" name="TextBox 15">
            <a:extLst>
              <a:ext uri="{FF2B5EF4-FFF2-40B4-BE49-F238E27FC236}">
                <a16:creationId xmlns:a16="http://schemas.microsoft.com/office/drawing/2014/main" id="{FB1FA1C8-5E3D-DBF8-9CE2-A2DCC064D01E}"/>
              </a:ext>
            </a:extLst>
          </p:cNvPr>
          <p:cNvSpPr txBox="1"/>
          <p:nvPr/>
        </p:nvSpPr>
        <p:spPr>
          <a:xfrm>
            <a:off x="5244663" y="3229301"/>
            <a:ext cx="6212035"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17" name="TextBox 16">
            <a:extLst>
              <a:ext uri="{FF2B5EF4-FFF2-40B4-BE49-F238E27FC236}">
                <a16:creationId xmlns:a16="http://schemas.microsoft.com/office/drawing/2014/main" id="{EE380253-3A0F-F9FD-D39D-BF929AD4E995}"/>
              </a:ext>
            </a:extLst>
          </p:cNvPr>
          <p:cNvSpPr txBox="1"/>
          <p:nvPr/>
        </p:nvSpPr>
        <p:spPr>
          <a:xfrm>
            <a:off x="5444464" y="1153924"/>
            <a:ext cx="5812432" cy="646331"/>
          </a:xfrm>
          <a:prstGeom prst="rect">
            <a:avLst/>
          </a:prstGeom>
          <a:noFill/>
        </p:spPr>
        <p:txBody>
          <a:bodyPr wrap="square">
            <a:spAutoFit/>
          </a:bodyPr>
          <a:lstStyle/>
          <a:p>
            <a:pPr algn="ctr"/>
            <a:r>
              <a:rPr lang="en-IN" sz="1200" b="1" dirty="0">
                <a:solidFill>
                  <a:schemeClr val="bg1"/>
                </a:solidFill>
                <a:latin typeface="Helvetica" pitchFamily="2" charset="0"/>
              </a:rPr>
              <a:t>Focusing less on customers having 3 or 4 products. Focusing more on customers having 1 product and then motivating them to acquire another product, most preferably a credit card (due to comparatively less churn) </a:t>
            </a:r>
            <a:endParaRPr lang="en-IN" sz="1200" b="1" dirty="0">
              <a:solidFill>
                <a:schemeClr val="bg1"/>
              </a:solidFill>
            </a:endParaRPr>
          </a:p>
        </p:txBody>
      </p:sp>
      <p:sp>
        <p:nvSpPr>
          <p:cNvPr id="18" name="TextBox 17">
            <a:extLst>
              <a:ext uri="{FF2B5EF4-FFF2-40B4-BE49-F238E27FC236}">
                <a16:creationId xmlns:a16="http://schemas.microsoft.com/office/drawing/2014/main" id="{AA367323-FFF7-2710-EA33-560A388FFBF5}"/>
              </a:ext>
            </a:extLst>
          </p:cNvPr>
          <p:cNvSpPr txBox="1"/>
          <p:nvPr/>
        </p:nvSpPr>
        <p:spPr>
          <a:xfrm>
            <a:off x="5449772" y="2231130"/>
            <a:ext cx="5801816" cy="646331"/>
          </a:xfrm>
          <a:prstGeom prst="rect">
            <a:avLst/>
          </a:prstGeom>
          <a:noFill/>
        </p:spPr>
        <p:txBody>
          <a:bodyPr wrap="square">
            <a:spAutoFit/>
          </a:bodyPr>
          <a:lstStyle/>
          <a:p>
            <a:pPr algn="ctr"/>
            <a:r>
              <a:rPr lang="en-IN" sz="1200" b="1" dirty="0">
                <a:solidFill>
                  <a:schemeClr val="bg1"/>
                </a:solidFill>
                <a:latin typeface="Helvetica" pitchFamily="2" charset="0"/>
              </a:rPr>
              <a:t>Giving higher rewards to young adults (18-30) and lowering attention on senior citizens (50+). Improving services for active members in the age group 31-50 to reduce churn   </a:t>
            </a:r>
            <a:endParaRPr lang="en-IN" sz="1200" b="1" dirty="0">
              <a:solidFill>
                <a:schemeClr val="bg1"/>
              </a:solidFill>
            </a:endParaRPr>
          </a:p>
        </p:txBody>
      </p:sp>
      <p:sp>
        <p:nvSpPr>
          <p:cNvPr id="19" name="TextBox 18">
            <a:extLst>
              <a:ext uri="{FF2B5EF4-FFF2-40B4-BE49-F238E27FC236}">
                <a16:creationId xmlns:a16="http://schemas.microsoft.com/office/drawing/2014/main" id="{B3C61D5E-17D9-3007-9684-982FC69B054E}"/>
              </a:ext>
            </a:extLst>
          </p:cNvPr>
          <p:cNvSpPr txBox="1"/>
          <p:nvPr/>
        </p:nvSpPr>
        <p:spPr>
          <a:xfrm>
            <a:off x="5449772" y="3311136"/>
            <a:ext cx="5801816" cy="646331"/>
          </a:xfrm>
          <a:prstGeom prst="rect">
            <a:avLst/>
          </a:prstGeom>
          <a:noFill/>
        </p:spPr>
        <p:txBody>
          <a:bodyPr wrap="square">
            <a:spAutoFit/>
          </a:bodyPr>
          <a:lstStyle/>
          <a:p>
            <a:pPr algn="ctr"/>
            <a:r>
              <a:rPr lang="en-IN" sz="1200" b="1" dirty="0">
                <a:solidFill>
                  <a:schemeClr val="bg1"/>
                </a:solidFill>
                <a:latin typeface="Helvetica" pitchFamily="2" charset="0"/>
              </a:rPr>
              <a:t>Expanding into the markets of Spain due to high active customers and low churn. Maintaining health balance in the market of France. Understanding and making calculated decisions in the German market.</a:t>
            </a:r>
            <a:endParaRPr lang="en-IN" sz="1200" b="1" dirty="0">
              <a:solidFill>
                <a:schemeClr val="bg1"/>
              </a:solidFill>
            </a:endParaRPr>
          </a:p>
        </p:txBody>
      </p:sp>
      <p:sp>
        <p:nvSpPr>
          <p:cNvPr id="21" name="TextBox 20">
            <a:extLst>
              <a:ext uri="{FF2B5EF4-FFF2-40B4-BE49-F238E27FC236}">
                <a16:creationId xmlns:a16="http://schemas.microsoft.com/office/drawing/2014/main" id="{A377E680-5456-DB6F-B528-A4713033B58B}"/>
              </a:ext>
            </a:extLst>
          </p:cNvPr>
          <p:cNvSpPr txBox="1"/>
          <p:nvPr/>
        </p:nvSpPr>
        <p:spPr>
          <a:xfrm>
            <a:off x="5444464" y="4385542"/>
            <a:ext cx="5801816" cy="646331"/>
          </a:xfrm>
          <a:prstGeom prst="rect">
            <a:avLst/>
          </a:prstGeom>
          <a:noFill/>
        </p:spPr>
        <p:txBody>
          <a:bodyPr wrap="square">
            <a:spAutoFit/>
          </a:bodyPr>
          <a:lstStyle/>
          <a:p>
            <a:pPr algn="ctr"/>
            <a:r>
              <a:rPr lang="en-IN" sz="1200" b="1" dirty="0">
                <a:solidFill>
                  <a:schemeClr val="bg1"/>
                </a:solidFill>
                <a:latin typeface="Helvetica" pitchFamily="2" charset="0"/>
              </a:rPr>
              <a:t>Inactive customers without a considerable credit rating should be given higher rewards. Active customers having considerable credit ratings should be given higher rewards and additional rewards for credit card usage.</a:t>
            </a:r>
            <a:endParaRPr lang="en-IN" sz="1200" b="1" dirty="0">
              <a:solidFill>
                <a:schemeClr val="bg1"/>
              </a:solidFill>
            </a:endParaRPr>
          </a:p>
        </p:txBody>
      </p:sp>
      <p:sp>
        <p:nvSpPr>
          <p:cNvPr id="22" name="TextBox 21">
            <a:extLst>
              <a:ext uri="{FF2B5EF4-FFF2-40B4-BE49-F238E27FC236}">
                <a16:creationId xmlns:a16="http://schemas.microsoft.com/office/drawing/2014/main" id="{A8906ABD-36CF-AA93-BC65-092A12B7A198}"/>
              </a:ext>
            </a:extLst>
          </p:cNvPr>
          <p:cNvSpPr txBox="1"/>
          <p:nvPr/>
        </p:nvSpPr>
        <p:spPr>
          <a:xfrm>
            <a:off x="5444464" y="5462748"/>
            <a:ext cx="5801816" cy="646331"/>
          </a:xfrm>
          <a:prstGeom prst="rect">
            <a:avLst/>
          </a:prstGeom>
          <a:noFill/>
        </p:spPr>
        <p:txBody>
          <a:bodyPr wrap="square">
            <a:spAutoFit/>
          </a:bodyPr>
          <a:lstStyle/>
          <a:p>
            <a:pPr algn="ctr"/>
            <a:r>
              <a:rPr lang="en-IN" sz="1200" b="1" dirty="0">
                <a:solidFill>
                  <a:schemeClr val="bg1"/>
                </a:solidFill>
                <a:latin typeface="Helvetica" pitchFamily="2" charset="0"/>
              </a:rPr>
              <a:t>Since Females have a higher churn rate and lower activeness than Males, we should find the bottlenecks of such behaviour and make policies and reward systems that a proper balance can be established.</a:t>
            </a:r>
            <a:endParaRPr lang="en-IN" sz="1200" b="1" dirty="0">
              <a:solidFill>
                <a:schemeClr val="bg1"/>
              </a:solidFill>
            </a:endParaRPr>
          </a:p>
        </p:txBody>
      </p:sp>
    </p:spTree>
    <p:extLst>
      <p:ext uri="{BB962C8B-B14F-4D97-AF65-F5344CB8AC3E}">
        <p14:creationId xmlns:p14="http://schemas.microsoft.com/office/powerpoint/2010/main" val="221879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E75F4-6E64-C0F9-9D20-33F6FB5DBA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84C961-6E69-6158-A803-598E87A70062}"/>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CONCLUSION</a:t>
            </a:r>
            <a:endParaRPr lang="en-IN" sz="6000" b="1" dirty="0">
              <a:solidFill>
                <a:schemeClr val="accent2"/>
              </a:solidFill>
            </a:endParaRPr>
          </a:p>
        </p:txBody>
      </p:sp>
    </p:spTree>
    <p:extLst>
      <p:ext uri="{BB962C8B-B14F-4D97-AF65-F5344CB8AC3E}">
        <p14:creationId xmlns:p14="http://schemas.microsoft.com/office/powerpoint/2010/main" val="2408681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81BD-CC63-1D13-662A-F12FFD9502E1}"/>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768046F-46E5-FA1E-69F2-922FF9E07510}"/>
              </a:ext>
            </a:extLst>
          </p:cNvPr>
          <p:cNvGraphicFramePr>
            <a:graphicFrameLocks noGrp="1"/>
          </p:cNvGraphicFramePr>
          <p:nvPr>
            <p:extLst>
              <p:ext uri="{D42A27DB-BD31-4B8C-83A1-F6EECF244321}">
                <p14:modId xmlns:p14="http://schemas.microsoft.com/office/powerpoint/2010/main" val="3203432320"/>
              </p:ext>
            </p:extLst>
          </p:nvPr>
        </p:nvGraphicFramePr>
        <p:xfrm>
          <a:off x="425668" y="1125646"/>
          <a:ext cx="11340663" cy="4606707"/>
        </p:xfrm>
        <a:graphic>
          <a:graphicData uri="http://schemas.openxmlformats.org/drawingml/2006/table">
            <a:tbl>
              <a:tblPr firstRow="1" bandRow="1">
                <a:tableStyleId>{8A107856-5554-42FB-B03E-39F5DBC370BA}</a:tableStyleId>
              </a:tblPr>
              <a:tblGrid>
                <a:gridCol w="1255987">
                  <a:extLst>
                    <a:ext uri="{9D8B030D-6E8A-4147-A177-3AD203B41FA5}">
                      <a16:colId xmlns:a16="http://schemas.microsoft.com/office/drawing/2014/main" val="489914312"/>
                    </a:ext>
                  </a:extLst>
                </a:gridCol>
                <a:gridCol w="2764221">
                  <a:extLst>
                    <a:ext uri="{9D8B030D-6E8A-4147-A177-3AD203B41FA5}">
                      <a16:colId xmlns:a16="http://schemas.microsoft.com/office/drawing/2014/main" val="1830514137"/>
                    </a:ext>
                  </a:extLst>
                </a:gridCol>
                <a:gridCol w="7320455">
                  <a:extLst>
                    <a:ext uri="{9D8B030D-6E8A-4147-A177-3AD203B41FA5}">
                      <a16:colId xmlns:a16="http://schemas.microsoft.com/office/drawing/2014/main" val="842001167"/>
                    </a:ext>
                  </a:extLst>
                </a:gridCol>
              </a:tblGrid>
              <a:tr h="435714">
                <a:tc>
                  <a:txBody>
                    <a:bodyPr/>
                    <a:lstStyle/>
                    <a:p>
                      <a:pPr algn="ctr">
                        <a:buNone/>
                      </a:pPr>
                      <a:r>
                        <a:rPr lang="en-IN" sz="1800" dirty="0">
                          <a:solidFill>
                            <a:schemeClr val="bg1"/>
                          </a:solidFill>
                          <a:latin typeface="Helvetica" pitchFamily="2" charset="0"/>
                        </a:rPr>
                        <a:t>Goal</a:t>
                      </a:r>
                    </a:p>
                  </a:txBody>
                  <a:tcPr anchor="ctr">
                    <a:solidFill>
                      <a:schemeClr val="accent2"/>
                    </a:solidFill>
                  </a:tcPr>
                </a:tc>
                <a:tc>
                  <a:txBody>
                    <a:bodyPr/>
                    <a:lstStyle/>
                    <a:p>
                      <a:pPr algn="ctr">
                        <a:buNone/>
                      </a:pPr>
                      <a:r>
                        <a:rPr lang="en-IN" sz="1800" dirty="0">
                          <a:solidFill>
                            <a:schemeClr val="bg1"/>
                          </a:solidFill>
                          <a:latin typeface="Helvetica" pitchFamily="2" charset="0"/>
                        </a:rPr>
                        <a:t>Improvement Area</a:t>
                      </a:r>
                    </a:p>
                  </a:txBody>
                  <a:tcPr anchor="ctr">
                    <a:solidFill>
                      <a:schemeClr val="accent2"/>
                    </a:solidFill>
                  </a:tcPr>
                </a:tc>
                <a:tc>
                  <a:txBody>
                    <a:bodyPr/>
                    <a:lstStyle/>
                    <a:p>
                      <a:pPr algn="ctr">
                        <a:buNone/>
                      </a:pPr>
                      <a:r>
                        <a:rPr lang="en-IN" sz="1800" dirty="0">
                          <a:solidFill>
                            <a:schemeClr val="bg1"/>
                          </a:solidFill>
                          <a:latin typeface="Helvetica" pitchFamily="2" charset="0"/>
                        </a:rPr>
                        <a:t>Recommendations</a:t>
                      </a:r>
                    </a:p>
                  </a:txBody>
                  <a:tcPr anchor="ctr">
                    <a:solidFill>
                      <a:schemeClr val="accent2"/>
                    </a:solidFill>
                  </a:tcPr>
                </a:tc>
                <a:extLst>
                  <a:ext uri="{0D108BD9-81ED-4DB2-BD59-A6C34878D82A}">
                    <a16:rowId xmlns:a16="http://schemas.microsoft.com/office/drawing/2014/main" val="3689740115"/>
                  </a:ext>
                </a:extLst>
              </a:tr>
              <a:tr h="659913">
                <a:tc rowSpan="3">
                  <a:txBody>
                    <a:bodyPr/>
                    <a:lstStyle/>
                    <a:p>
                      <a:pPr marL="0" lv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Reduce Churn Rate</a:t>
                      </a:r>
                    </a:p>
                  </a:txBody>
                  <a:tcPr anchor="ctr">
                    <a:solidFill>
                      <a:schemeClr val="accent2">
                        <a:lumMod val="60000"/>
                        <a:lumOff val="4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Number of Products</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Directing the customer to have a maximum of two products. Introduce credit cards to customers who have one product and do not use credit cards. </a:t>
                      </a:r>
                    </a:p>
                  </a:txBody>
                  <a:tcPr anchor="ctr">
                    <a:solidFill>
                      <a:schemeClr val="bg1"/>
                    </a:solidFill>
                  </a:tcPr>
                </a:tc>
                <a:extLst>
                  <a:ext uri="{0D108BD9-81ED-4DB2-BD59-A6C34878D82A}">
                    <a16:rowId xmlns:a16="http://schemas.microsoft.com/office/drawing/2014/main" val="2613978552"/>
                  </a:ext>
                </a:extLst>
              </a:tr>
              <a:tr h="435714">
                <a:tc vMerge="1">
                  <a:txBody>
                    <a:bodyPr/>
                    <a:lstStyle/>
                    <a:p>
                      <a:pPr marL="0" lvl="0" algn="ctr" defTabSz="914400" rtl="0" eaLnBrk="1" latinLnBrk="0" hangingPunct="1">
                        <a:lnSpc>
                          <a:spcPct val="115000"/>
                        </a:lnSpc>
                        <a:spcAft>
                          <a:spcPts val="800"/>
                        </a:spcAft>
                        <a:buNone/>
                      </a:pPr>
                      <a:endParaRPr lang="en-IN" sz="1400" kern="1200" dirty="0">
                        <a:solidFill>
                          <a:schemeClr val="dk1"/>
                        </a:solidFill>
                        <a:latin typeface="Helvetica" pitchFamily="2" charset="0"/>
                        <a:ea typeface="+mn-ea"/>
                        <a:cs typeface="+mn-cs"/>
                      </a:endParaRP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Location</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Acquiring more customers in Spain. Making calculated decisions in Germany,</a:t>
                      </a:r>
                    </a:p>
                  </a:txBody>
                  <a:tcPr anchor="ctr">
                    <a:solidFill>
                      <a:schemeClr val="bg1"/>
                    </a:solidFill>
                  </a:tcPr>
                </a:tc>
                <a:extLst>
                  <a:ext uri="{0D108BD9-81ED-4DB2-BD59-A6C34878D82A}">
                    <a16:rowId xmlns:a16="http://schemas.microsoft.com/office/drawing/2014/main" val="918582987"/>
                  </a:ext>
                </a:extLst>
              </a:tr>
              <a:tr h="659913">
                <a:tc vMerge="1">
                  <a:txBody>
                    <a:bodyPr/>
                    <a:lstStyle/>
                    <a:p>
                      <a:pPr marL="0" lvl="0" algn="ctr" defTabSz="914400" rtl="0" eaLnBrk="1" latinLnBrk="0" hangingPunct="1">
                        <a:lnSpc>
                          <a:spcPct val="115000"/>
                        </a:lnSpc>
                        <a:spcAft>
                          <a:spcPts val="800"/>
                        </a:spcAft>
                        <a:buNone/>
                      </a:pPr>
                      <a:endParaRPr lang="en-IN" sz="1400" kern="1200" dirty="0">
                        <a:solidFill>
                          <a:schemeClr val="dk1"/>
                        </a:solidFill>
                        <a:latin typeface="Helvetica" pitchFamily="2" charset="0"/>
                        <a:ea typeface="+mn-ea"/>
                        <a:cs typeface="+mn-cs"/>
                      </a:endParaRP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Age Group</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Building reward systems to provide incentives to Senior Citizens (31-50) and growing customer base in Young Adults (18-30)</a:t>
                      </a:r>
                    </a:p>
                  </a:txBody>
                  <a:tcPr anchor="ctr">
                    <a:solidFill>
                      <a:schemeClr val="bg1"/>
                    </a:solidFill>
                  </a:tcPr>
                </a:tc>
                <a:extLst>
                  <a:ext uri="{0D108BD9-81ED-4DB2-BD59-A6C34878D82A}">
                    <a16:rowId xmlns:a16="http://schemas.microsoft.com/office/drawing/2014/main" val="1964617213"/>
                  </a:ext>
                </a:extLst>
              </a:tr>
              <a:tr h="435714">
                <a:tc rowSpan="3">
                  <a:txBody>
                    <a:bodyPr/>
                    <a:lstStyle/>
                    <a:p>
                      <a:pPr marL="0" lv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Improve Service Delivery</a:t>
                      </a:r>
                    </a:p>
                  </a:txBody>
                  <a:tcPr anchor="ctr">
                    <a:solidFill>
                      <a:schemeClr val="accent2">
                        <a:lumMod val="60000"/>
                        <a:lumOff val="4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Age Group</a:t>
                      </a:r>
                    </a:p>
                  </a:txBody>
                  <a:tcPr anchor="ctr">
                    <a:solidFill>
                      <a:schemeClr val="accent2">
                        <a:lumMod val="20000"/>
                        <a:lumOff val="80000"/>
                      </a:schemeClr>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IN" sz="1400" kern="1200" dirty="0">
                          <a:solidFill>
                            <a:schemeClr val="dk1"/>
                          </a:solidFill>
                          <a:latin typeface="Helvetica" pitchFamily="2" charset="0"/>
                          <a:ea typeface="+mn-ea"/>
                          <a:cs typeface="+mn-cs"/>
                        </a:rPr>
                        <a:t>Tailoring strategies and services to address Middle Aged Adults (31-50). </a:t>
                      </a:r>
                    </a:p>
                  </a:txBody>
                  <a:tcPr anchor="ctr">
                    <a:solidFill>
                      <a:schemeClr val="bg1"/>
                    </a:solidFill>
                  </a:tcPr>
                </a:tc>
                <a:extLst>
                  <a:ext uri="{0D108BD9-81ED-4DB2-BD59-A6C34878D82A}">
                    <a16:rowId xmlns:a16="http://schemas.microsoft.com/office/drawing/2014/main" val="2961379725"/>
                  </a:ext>
                </a:extLst>
              </a:tr>
              <a:tr h="659913">
                <a:tc vMerge="1">
                  <a:txBody>
                    <a:bodyPr/>
                    <a:lstStyle/>
                    <a:p>
                      <a:pPr marL="0" lvl="0" algn="ctr" defTabSz="914400" rtl="0" eaLnBrk="1" latinLnBrk="0" hangingPunct="1">
                        <a:lnSpc>
                          <a:spcPct val="115000"/>
                        </a:lnSpc>
                        <a:spcAft>
                          <a:spcPts val="800"/>
                        </a:spcAft>
                        <a:buNone/>
                      </a:pPr>
                      <a:endParaRPr lang="en-IN" sz="1400" kern="1200" dirty="0">
                        <a:solidFill>
                          <a:schemeClr val="dk1"/>
                        </a:solidFill>
                        <a:latin typeface="Helvetica" pitchFamily="2" charset="0"/>
                        <a:ea typeface="+mn-ea"/>
                        <a:cs typeface="+mn-cs"/>
                      </a:endParaRPr>
                    </a:p>
                  </a:txBody>
                  <a:tcPr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Credit Category</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Offering lucrative credit card services and higher benefits to non-credit card holders  </a:t>
                      </a:r>
                    </a:p>
                  </a:txBody>
                  <a:tcPr anchor="ctr">
                    <a:solidFill>
                      <a:schemeClr val="bg1"/>
                    </a:solidFill>
                  </a:tcPr>
                </a:tc>
                <a:extLst>
                  <a:ext uri="{0D108BD9-81ED-4DB2-BD59-A6C34878D82A}">
                    <a16:rowId xmlns:a16="http://schemas.microsoft.com/office/drawing/2014/main" val="2915879616"/>
                  </a:ext>
                </a:extLst>
              </a:tr>
              <a:tr h="659913">
                <a:tc vMerge="1">
                  <a:txBody>
                    <a:bodyPr/>
                    <a:lstStyle/>
                    <a:p>
                      <a:pPr marL="0" lvl="0" algn="ctr" defTabSz="914400" rtl="0" eaLnBrk="1" latinLnBrk="0" hangingPunct="1">
                        <a:lnSpc>
                          <a:spcPct val="115000"/>
                        </a:lnSpc>
                        <a:spcAft>
                          <a:spcPts val="800"/>
                        </a:spcAft>
                        <a:buNone/>
                      </a:pPr>
                      <a:endParaRPr lang="en-IN" sz="1400" kern="1200" dirty="0">
                        <a:solidFill>
                          <a:schemeClr val="dk1"/>
                        </a:solidFill>
                        <a:latin typeface="Helvetica" pitchFamily="2" charset="0"/>
                        <a:ea typeface="+mn-ea"/>
                        <a:cs typeface="+mn-cs"/>
                      </a:endParaRPr>
                    </a:p>
                  </a:txBody>
                  <a:tcPr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Gender</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Understanding the pain points of female customer who have higher average salary than male and low activity to increase their participation </a:t>
                      </a:r>
                    </a:p>
                  </a:txBody>
                  <a:tcPr anchor="ctr">
                    <a:solidFill>
                      <a:schemeClr val="bg1"/>
                    </a:solidFill>
                  </a:tcPr>
                </a:tc>
                <a:extLst>
                  <a:ext uri="{0D108BD9-81ED-4DB2-BD59-A6C34878D82A}">
                    <a16:rowId xmlns:a16="http://schemas.microsoft.com/office/drawing/2014/main" val="3453688375"/>
                  </a:ext>
                </a:extLst>
              </a:tr>
              <a:tr h="659913">
                <a:tc>
                  <a:txBody>
                    <a:bodyPr/>
                    <a:lstStyle/>
                    <a:p>
                      <a:pPr marL="0" lv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Customer Satisfaction </a:t>
                      </a:r>
                    </a:p>
                  </a:txBody>
                  <a:tcPr anchor="ctr">
                    <a:solidFill>
                      <a:schemeClr val="accent2">
                        <a:lumMod val="60000"/>
                        <a:lumOff val="4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Active Members</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Active members should be handled carefully, and non-active members should be surveyed for inactivity.</a:t>
                      </a:r>
                    </a:p>
                  </a:txBody>
                  <a:tcPr anchor="ctr">
                    <a:solidFill>
                      <a:schemeClr val="bg1"/>
                    </a:solidFill>
                  </a:tcPr>
                </a:tc>
                <a:extLst>
                  <a:ext uri="{0D108BD9-81ED-4DB2-BD59-A6C34878D82A}">
                    <a16:rowId xmlns:a16="http://schemas.microsoft.com/office/drawing/2014/main" val="804776366"/>
                  </a:ext>
                </a:extLst>
              </a:tr>
            </a:tbl>
          </a:graphicData>
        </a:graphic>
      </p:graphicFrame>
    </p:spTree>
    <p:extLst>
      <p:ext uri="{BB962C8B-B14F-4D97-AF65-F5344CB8AC3E}">
        <p14:creationId xmlns:p14="http://schemas.microsoft.com/office/powerpoint/2010/main" val="4292219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C8512-07C2-C055-A185-75DC8C0FC2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96C2A2-9954-545E-7E17-8B61C75C1CBF}"/>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THANK YOU</a:t>
            </a:r>
            <a:endParaRPr lang="en-IN" sz="6000" b="1" dirty="0">
              <a:solidFill>
                <a:schemeClr val="accent2"/>
              </a:solidFill>
            </a:endParaRPr>
          </a:p>
        </p:txBody>
      </p:sp>
    </p:spTree>
    <p:extLst>
      <p:ext uri="{BB962C8B-B14F-4D97-AF65-F5344CB8AC3E}">
        <p14:creationId xmlns:p14="http://schemas.microsoft.com/office/powerpoint/2010/main" val="2676997790"/>
      </p:ext>
    </p:extLst>
  </p:cSld>
  <p:clrMapOvr>
    <a:masterClrMapping/>
  </p:clrMapOvr>
</p:sld>
</file>

<file path=ppt/theme/theme1.xml><?xml version="1.0" encoding="utf-8"?>
<a:theme xmlns:a="http://schemas.openxmlformats.org/drawingml/2006/main" name="Office Theme">
  <a:themeElements>
    <a:clrScheme name="All Purpose Theme">
      <a:dk1>
        <a:srgbClr val="000000"/>
      </a:dk1>
      <a:lt1>
        <a:srgbClr val="FFFFFF"/>
      </a:lt1>
      <a:dk2>
        <a:srgbClr val="222324"/>
      </a:dk2>
      <a:lt2>
        <a:srgbClr val="F7F7F7"/>
      </a:lt2>
      <a:accent1>
        <a:srgbClr val="8721FF"/>
      </a:accent1>
      <a:accent2>
        <a:srgbClr val="FF457E"/>
      </a:accent2>
      <a:accent3>
        <a:srgbClr val="4694FF"/>
      </a:accent3>
      <a:accent4>
        <a:srgbClr val="FFDB45"/>
      </a:accent4>
      <a:accent5>
        <a:srgbClr val="30E584"/>
      </a:accent5>
      <a:accent6>
        <a:srgbClr val="848483"/>
      </a:accent6>
      <a:hlink>
        <a:srgbClr val="CBA135"/>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2061</TotalTime>
  <Words>1424</Words>
  <Application>Microsoft Office PowerPoint</Application>
  <PresentationFormat>Widescreen</PresentationFormat>
  <Paragraphs>150</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ARNAV BANGARIA</dc:creator>
  <cp:lastModifiedBy>Mr. ARNAV BANGARIA</cp:lastModifiedBy>
  <cp:revision>102</cp:revision>
  <dcterms:created xsi:type="dcterms:W3CDTF">2025-07-15T21:02:13Z</dcterms:created>
  <dcterms:modified xsi:type="dcterms:W3CDTF">2025-08-25T10:38:33Z</dcterms:modified>
</cp:coreProperties>
</file>